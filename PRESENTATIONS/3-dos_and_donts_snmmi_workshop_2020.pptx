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charts/chart2.xml" ContentType="application/vnd.openxmlformats-officedocument.drawingml.chart+xml"/>
  <Override PartName="/ppt/drawings/drawing2.xml" ContentType="application/vnd.openxmlformats-officedocument.drawingml.chartshapes+xml"/>
  <Override PartName="/ppt/charts/chart3.xml" ContentType="application/vnd.openxmlformats-officedocument.drawingml.chart+xml"/>
  <Override PartName="/ppt/drawings/drawing3.xml" ContentType="application/vnd.openxmlformats-officedocument.drawingml.chartshapes+xml"/>
  <Override PartName="/ppt/charts/chart4.xml" ContentType="application/vnd.openxmlformats-officedocument.drawingml.chart+xml"/>
  <Override PartName="/ppt/drawings/drawing4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6" r:id="rId1"/>
    <p:sldMasterId id="2147483897" r:id="rId2"/>
    <p:sldMasterId id="2147483933" r:id="rId3"/>
  </p:sldMasterIdLst>
  <p:notesMasterIdLst>
    <p:notesMasterId r:id="rId15"/>
  </p:notesMasterIdLst>
  <p:sldIdLst>
    <p:sldId id="1078" r:id="rId4"/>
    <p:sldId id="1169" r:id="rId5"/>
    <p:sldId id="1171" r:id="rId6"/>
    <p:sldId id="1057" r:id="rId7"/>
    <p:sldId id="1059" r:id="rId8"/>
    <p:sldId id="1170" r:id="rId9"/>
    <p:sldId id="1172" r:id="rId10"/>
    <p:sldId id="1173" r:id="rId11"/>
    <p:sldId id="1174" r:id="rId12"/>
    <p:sldId id="1175" r:id="rId13"/>
    <p:sldId id="1176" r:id="rId14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evin Johnson" initials="KJ" lastIdx="2" clrIdx="0">
    <p:extLst>
      <p:ext uri="{19B8F6BF-5375-455C-9EA6-DF929625EA0E}">
        <p15:presenceInfo xmlns:p15="http://schemas.microsoft.com/office/powerpoint/2012/main" userId="S-1-5-21-429934397-719916749-7473742-285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40000"/>
    <a:srgbClr val="FAA8A8"/>
    <a:srgbClr val="FB5353"/>
    <a:srgbClr val="0000FF"/>
    <a:srgbClr val="000000"/>
    <a:srgbClr val="2FA1FF"/>
    <a:srgbClr val="565400"/>
    <a:srgbClr val="FFFF00"/>
    <a:srgbClr val="FFFFFF"/>
    <a:srgbClr val="282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96" autoAdjust="0"/>
    <p:restoredTop sz="93004" autoAdjust="0"/>
  </p:normalViewPr>
  <p:slideViewPr>
    <p:cSldViewPr snapToGrid="0">
      <p:cViewPr>
        <p:scale>
          <a:sx n="66" d="100"/>
          <a:sy n="66" d="100"/>
        </p:scale>
        <p:origin x="1512" y="8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7" d="100"/>
        <a:sy n="57" d="100"/>
      </p:scale>
      <p:origin x="0" y="-1195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oleObject" Target="Book1" TargetMode="External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2.xml"/><Relationship Id="rId1" Type="http://schemas.openxmlformats.org/officeDocument/2006/relationships/oleObject" Target="Book1" TargetMode="External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3.xml"/><Relationship Id="rId1" Type="http://schemas.openxmlformats.org/officeDocument/2006/relationships/oleObject" Target="Book1" TargetMode="Externa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4.xml"/><Relationship Id="rId1" Type="http://schemas.openxmlformats.org/officeDocument/2006/relationships/oleObject" Target="Book1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>
              <a:noFill/>
            </a:ln>
          </c:spPr>
          <c:marker>
            <c:symbol val="none"/>
          </c:marker>
          <c:xVal>
            <c:numRef>
              <c:f>Sheet1!$E$11:$F$11</c:f>
              <c:numCache>
                <c:formatCode>General</c:formatCode>
                <c:ptCount val="2"/>
                <c:pt idx="0">
                  <c:v>50</c:v>
                </c:pt>
                <c:pt idx="1">
                  <c:v>1</c:v>
                </c:pt>
              </c:numCache>
            </c:numRef>
          </c:xVal>
          <c:yVal>
            <c:numRef>
              <c:f>Sheet1!$E$12:$F$12</c:f>
              <c:numCache>
                <c:formatCode>General</c:formatCode>
                <c:ptCount val="2"/>
                <c:pt idx="0">
                  <c:v>50</c:v>
                </c:pt>
                <c:pt idx="1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A3-4C3B-8A0A-DB50D329CA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24391104"/>
        <c:axId val="224391680"/>
      </c:scatterChart>
      <c:valAx>
        <c:axId val="224391104"/>
        <c:scaling>
          <c:orientation val="minMax"/>
          <c:max val="50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/>
                  <a:t>Epochs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224391680"/>
        <c:crosses val="autoZero"/>
        <c:crossBetween val="midCat"/>
        <c:majorUnit val="10"/>
        <c:minorUnit val="5"/>
      </c:valAx>
      <c:valAx>
        <c:axId val="224391680"/>
        <c:scaling>
          <c:orientation val="minMax"/>
        </c:scaling>
        <c:delete val="1"/>
        <c:axPos val="l"/>
        <c:majorGridlines>
          <c:spPr>
            <a:ln>
              <a:solidFill>
                <a:schemeClr val="tx1"/>
              </a:solidFill>
            </a:ln>
          </c:spPr>
        </c:majorGridlines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 baseline="0" dirty="0"/>
                  <a:t>Loss</a:t>
                </a:r>
              </a:p>
            </c:rich>
          </c:tx>
          <c:layout>
            <c:manualLayout>
              <c:xMode val="edge"/>
              <c:yMode val="edge"/>
              <c:x val="1.9444444444444445E-2"/>
              <c:y val="0.39186912098232218"/>
            </c:manualLayout>
          </c:layout>
          <c:overlay val="0"/>
        </c:title>
        <c:numFmt formatCode="General" sourceLinked="1"/>
        <c:majorTickMark val="out"/>
        <c:minorTickMark val="none"/>
        <c:tickLblPos val="nextTo"/>
        <c:crossAx val="224391104"/>
        <c:crosses val="autoZero"/>
        <c:crossBetween val="midCat"/>
      </c:valAx>
      <c:spPr>
        <a:ln w="9525">
          <a:solidFill>
            <a:schemeClr val="tx1"/>
          </a:solidFill>
        </a:ln>
      </c:spPr>
    </c:plotArea>
    <c:plotVisOnly val="1"/>
    <c:dispBlanksAs val="gap"/>
    <c:showDLblsOverMax val="0"/>
  </c:chart>
  <c:externalData r:id="rId1">
    <c:autoUpdate val="0"/>
  </c:externalData>
  <c:userShapes r:id="rId2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>
              <a:noFill/>
            </a:ln>
          </c:spPr>
          <c:marker>
            <c:symbol val="none"/>
          </c:marker>
          <c:xVal>
            <c:numRef>
              <c:f>Sheet1!$E$11:$F$11</c:f>
              <c:numCache>
                <c:formatCode>General</c:formatCode>
                <c:ptCount val="2"/>
                <c:pt idx="0">
                  <c:v>50</c:v>
                </c:pt>
                <c:pt idx="1">
                  <c:v>1</c:v>
                </c:pt>
              </c:numCache>
            </c:numRef>
          </c:xVal>
          <c:yVal>
            <c:numRef>
              <c:f>Sheet1!$E$12:$F$12</c:f>
              <c:numCache>
                <c:formatCode>General</c:formatCode>
                <c:ptCount val="2"/>
                <c:pt idx="0">
                  <c:v>50</c:v>
                </c:pt>
                <c:pt idx="1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A3-4C3B-8A0A-DB50D329CA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24391104"/>
        <c:axId val="224391680"/>
      </c:scatterChart>
      <c:valAx>
        <c:axId val="224391104"/>
        <c:scaling>
          <c:orientation val="minMax"/>
          <c:max val="50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/>
                  <a:t>Epochs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224391680"/>
        <c:crosses val="autoZero"/>
        <c:crossBetween val="midCat"/>
        <c:majorUnit val="10"/>
        <c:minorUnit val="5"/>
      </c:valAx>
      <c:valAx>
        <c:axId val="224391680"/>
        <c:scaling>
          <c:orientation val="minMax"/>
        </c:scaling>
        <c:delete val="1"/>
        <c:axPos val="l"/>
        <c:majorGridlines>
          <c:spPr>
            <a:ln>
              <a:solidFill>
                <a:schemeClr val="tx1"/>
              </a:solidFill>
            </a:ln>
          </c:spPr>
        </c:majorGridlines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 baseline="0" dirty="0"/>
                  <a:t>Loss</a:t>
                </a:r>
              </a:p>
            </c:rich>
          </c:tx>
          <c:layout>
            <c:manualLayout>
              <c:xMode val="edge"/>
              <c:yMode val="edge"/>
              <c:x val="1.9444444444444445E-2"/>
              <c:y val="0.39186912098232218"/>
            </c:manualLayout>
          </c:layout>
          <c:overlay val="0"/>
        </c:title>
        <c:numFmt formatCode="General" sourceLinked="1"/>
        <c:majorTickMark val="out"/>
        <c:minorTickMark val="none"/>
        <c:tickLblPos val="nextTo"/>
        <c:crossAx val="224391104"/>
        <c:crosses val="autoZero"/>
        <c:crossBetween val="midCat"/>
      </c:valAx>
      <c:spPr>
        <a:ln w="9525">
          <a:solidFill>
            <a:schemeClr val="tx1"/>
          </a:solidFill>
        </a:ln>
      </c:spPr>
    </c:plotArea>
    <c:plotVisOnly val="1"/>
    <c:dispBlanksAs val="gap"/>
    <c:showDLblsOverMax val="0"/>
  </c:chart>
  <c:externalData r:id="rId1">
    <c:autoUpdate val="0"/>
  </c:externalData>
  <c:userShapes r:id="rId2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>
              <a:noFill/>
            </a:ln>
          </c:spPr>
          <c:marker>
            <c:symbol val="none"/>
          </c:marker>
          <c:xVal>
            <c:numRef>
              <c:f>Sheet1!$E$11:$F$11</c:f>
              <c:numCache>
                <c:formatCode>General</c:formatCode>
                <c:ptCount val="2"/>
                <c:pt idx="0">
                  <c:v>50</c:v>
                </c:pt>
                <c:pt idx="1">
                  <c:v>1</c:v>
                </c:pt>
              </c:numCache>
            </c:numRef>
          </c:xVal>
          <c:yVal>
            <c:numRef>
              <c:f>Sheet1!$E$12:$F$12</c:f>
              <c:numCache>
                <c:formatCode>General</c:formatCode>
                <c:ptCount val="2"/>
                <c:pt idx="0">
                  <c:v>50</c:v>
                </c:pt>
                <c:pt idx="1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A3-4C3B-8A0A-DB50D329CA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24391104"/>
        <c:axId val="224391680"/>
      </c:scatterChart>
      <c:valAx>
        <c:axId val="224391104"/>
        <c:scaling>
          <c:orientation val="minMax"/>
          <c:max val="50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/>
                  <a:t>Epochs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224391680"/>
        <c:crosses val="autoZero"/>
        <c:crossBetween val="midCat"/>
        <c:majorUnit val="10"/>
        <c:minorUnit val="5"/>
      </c:valAx>
      <c:valAx>
        <c:axId val="224391680"/>
        <c:scaling>
          <c:orientation val="minMax"/>
        </c:scaling>
        <c:delete val="1"/>
        <c:axPos val="l"/>
        <c:majorGridlines>
          <c:spPr>
            <a:ln>
              <a:solidFill>
                <a:schemeClr val="tx1"/>
              </a:solidFill>
            </a:ln>
          </c:spPr>
        </c:majorGridlines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 baseline="0" dirty="0"/>
                  <a:t>Loss</a:t>
                </a:r>
              </a:p>
            </c:rich>
          </c:tx>
          <c:layout>
            <c:manualLayout>
              <c:xMode val="edge"/>
              <c:yMode val="edge"/>
              <c:x val="1.9444444444444445E-2"/>
              <c:y val="0.39186912098232218"/>
            </c:manualLayout>
          </c:layout>
          <c:overlay val="0"/>
        </c:title>
        <c:numFmt formatCode="General" sourceLinked="1"/>
        <c:majorTickMark val="out"/>
        <c:minorTickMark val="none"/>
        <c:tickLblPos val="nextTo"/>
        <c:crossAx val="224391104"/>
        <c:crosses val="autoZero"/>
        <c:crossBetween val="midCat"/>
      </c:valAx>
      <c:spPr>
        <a:ln w="9525">
          <a:solidFill>
            <a:schemeClr val="tx1"/>
          </a:solidFill>
        </a:ln>
      </c:spPr>
    </c:plotArea>
    <c:plotVisOnly val="1"/>
    <c:dispBlanksAs val="gap"/>
    <c:showDLblsOverMax val="0"/>
  </c:chart>
  <c:externalData r:id="rId1">
    <c:autoUpdate val="0"/>
  </c:externalData>
  <c:userShapes r:id="rId2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575">
              <a:noFill/>
            </a:ln>
          </c:spPr>
          <c:marker>
            <c:symbol val="none"/>
          </c:marker>
          <c:xVal>
            <c:numRef>
              <c:f>Sheet1!$E$11:$F$11</c:f>
              <c:numCache>
                <c:formatCode>General</c:formatCode>
                <c:ptCount val="2"/>
                <c:pt idx="0">
                  <c:v>50</c:v>
                </c:pt>
                <c:pt idx="1">
                  <c:v>1</c:v>
                </c:pt>
              </c:numCache>
            </c:numRef>
          </c:xVal>
          <c:yVal>
            <c:numRef>
              <c:f>Sheet1!$E$12:$F$12</c:f>
              <c:numCache>
                <c:formatCode>General</c:formatCode>
                <c:ptCount val="2"/>
                <c:pt idx="0">
                  <c:v>50</c:v>
                </c:pt>
                <c:pt idx="1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A3-4C3B-8A0A-DB50D329CA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24391104"/>
        <c:axId val="224391680"/>
      </c:scatterChart>
      <c:valAx>
        <c:axId val="224391104"/>
        <c:scaling>
          <c:orientation val="minMax"/>
          <c:max val="50"/>
        </c:scaling>
        <c:delete val="0"/>
        <c:axPos val="b"/>
        <c:title>
          <c:tx>
            <c:rich>
              <a:bodyPr/>
              <a:lstStyle/>
              <a:p>
                <a:pPr>
                  <a:defRPr/>
                </a:pPr>
                <a:r>
                  <a:rPr lang="en-US"/>
                  <a:t>Epochs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224391680"/>
        <c:crosses val="autoZero"/>
        <c:crossBetween val="midCat"/>
        <c:majorUnit val="10"/>
        <c:minorUnit val="5"/>
      </c:valAx>
      <c:valAx>
        <c:axId val="224391680"/>
        <c:scaling>
          <c:orientation val="minMax"/>
        </c:scaling>
        <c:delete val="1"/>
        <c:axPos val="l"/>
        <c:majorGridlines>
          <c:spPr>
            <a:ln>
              <a:solidFill>
                <a:schemeClr val="tx1"/>
              </a:solidFill>
            </a:ln>
          </c:spPr>
        </c:majorGridlines>
        <c:title>
          <c:tx>
            <c:rich>
              <a:bodyPr rot="-5400000" vert="horz"/>
              <a:lstStyle/>
              <a:p>
                <a:pPr>
                  <a:defRPr/>
                </a:pPr>
                <a:r>
                  <a:rPr lang="en-US" baseline="0" dirty="0"/>
                  <a:t>Loss</a:t>
                </a:r>
              </a:p>
            </c:rich>
          </c:tx>
          <c:layout>
            <c:manualLayout>
              <c:xMode val="edge"/>
              <c:yMode val="edge"/>
              <c:x val="1.9444444444444445E-2"/>
              <c:y val="0.39186912098232218"/>
            </c:manualLayout>
          </c:layout>
          <c:overlay val="0"/>
        </c:title>
        <c:numFmt formatCode="General" sourceLinked="1"/>
        <c:majorTickMark val="out"/>
        <c:minorTickMark val="none"/>
        <c:tickLblPos val="nextTo"/>
        <c:crossAx val="224391104"/>
        <c:crosses val="autoZero"/>
        <c:crossBetween val="midCat"/>
      </c:valAx>
      <c:spPr>
        <a:ln w="9525">
          <a:solidFill>
            <a:schemeClr val="tx1"/>
          </a:solidFill>
        </a:ln>
      </c:spPr>
    </c:plotArea>
    <c:plotVisOnly val="1"/>
    <c:dispBlanksAs val="gap"/>
    <c:showDLblsOverMax val="0"/>
  </c:chart>
  <c:externalData r:id="rId1">
    <c:autoUpdate val="0"/>
  </c:externalData>
  <c:userShapes r:id="rId2"/>
</c:chartSpac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0.09765</cdr:x>
      <cdr:y>0.13578</cdr:y>
    </cdr:from>
    <cdr:to>
      <cdr:x>0.93991</cdr:x>
      <cdr:y>0.68029</cdr:y>
    </cdr:to>
    <cdr:sp macro="" textlink="">
      <cdr:nvSpPr>
        <cdr:cNvPr id="3" name="Freeform 2"/>
        <cdr:cNvSpPr/>
      </cdr:nvSpPr>
      <cdr:spPr>
        <a:xfrm xmlns:a="http://schemas.openxmlformats.org/drawingml/2006/main">
          <a:off x="330200" y="305594"/>
          <a:ext cx="2847975" cy="1225550"/>
        </a:xfrm>
        <a:custGeom xmlns:a="http://schemas.openxmlformats.org/drawingml/2006/main">
          <a:avLst/>
          <a:gdLst>
            <a:gd name="connsiteX0" fmla="*/ 0 w 2847975"/>
            <a:gd name="connsiteY0" fmla="*/ 0 h 1225550"/>
            <a:gd name="connsiteX1" fmla="*/ 34925 w 2847975"/>
            <a:gd name="connsiteY1" fmla="*/ 82550 h 1225550"/>
            <a:gd name="connsiteX2" fmla="*/ 60325 w 2847975"/>
            <a:gd name="connsiteY2" fmla="*/ 165100 h 1225550"/>
            <a:gd name="connsiteX3" fmla="*/ 107950 w 2847975"/>
            <a:gd name="connsiteY3" fmla="*/ 250825 h 1225550"/>
            <a:gd name="connsiteX4" fmla="*/ 149225 w 2847975"/>
            <a:gd name="connsiteY4" fmla="*/ 311150 h 1225550"/>
            <a:gd name="connsiteX5" fmla="*/ 203200 w 2847975"/>
            <a:gd name="connsiteY5" fmla="*/ 377825 h 1225550"/>
            <a:gd name="connsiteX6" fmla="*/ 215900 w 2847975"/>
            <a:gd name="connsiteY6" fmla="*/ 419100 h 1225550"/>
            <a:gd name="connsiteX7" fmla="*/ 273050 w 2847975"/>
            <a:gd name="connsiteY7" fmla="*/ 501650 h 1225550"/>
            <a:gd name="connsiteX8" fmla="*/ 307975 w 2847975"/>
            <a:gd name="connsiteY8" fmla="*/ 574675 h 1225550"/>
            <a:gd name="connsiteX9" fmla="*/ 365125 w 2847975"/>
            <a:gd name="connsiteY9" fmla="*/ 666750 h 1225550"/>
            <a:gd name="connsiteX10" fmla="*/ 441325 w 2847975"/>
            <a:gd name="connsiteY10" fmla="*/ 708025 h 1225550"/>
            <a:gd name="connsiteX11" fmla="*/ 501650 w 2847975"/>
            <a:gd name="connsiteY11" fmla="*/ 762000 h 1225550"/>
            <a:gd name="connsiteX12" fmla="*/ 555625 w 2847975"/>
            <a:gd name="connsiteY12" fmla="*/ 793750 h 1225550"/>
            <a:gd name="connsiteX13" fmla="*/ 600075 w 2847975"/>
            <a:gd name="connsiteY13" fmla="*/ 847725 h 1225550"/>
            <a:gd name="connsiteX14" fmla="*/ 692150 w 2847975"/>
            <a:gd name="connsiteY14" fmla="*/ 898525 h 1225550"/>
            <a:gd name="connsiteX15" fmla="*/ 758825 w 2847975"/>
            <a:gd name="connsiteY15" fmla="*/ 936625 h 1225550"/>
            <a:gd name="connsiteX16" fmla="*/ 898525 w 2847975"/>
            <a:gd name="connsiteY16" fmla="*/ 1000125 h 1225550"/>
            <a:gd name="connsiteX17" fmla="*/ 981075 w 2847975"/>
            <a:gd name="connsiteY17" fmla="*/ 1044575 h 1225550"/>
            <a:gd name="connsiteX18" fmla="*/ 1082675 w 2847975"/>
            <a:gd name="connsiteY18" fmla="*/ 1092200 h 1225550"/>
            <a:gd name="connsiteX19" fmla="*/ 1235075 w 2847975"/>
            <a:gd name="connsiteY19" fmla="*/ 1133475 h 1225550"/>
            <a:gd name="connsiteX20" fmla="*/ 1349375 w 2847975"/>
            <a:gd name="connsiteY20" fmla="*/ 1149350 h 1225550"/>
            <a:gd name="connsiteX21" fmla="*/ 1625600 w 2847975"/>
            <a:gd name="connsiteY21" fmla="*/ 1162050 h 1225550"/>
            <a:gd name="connsiteX22" fmla="*/ 1873250 w 2847975"/>
            <a:gd name="connsiteY22" fmla="*/ 1184275 h 1225550"/>
            <a:gd name="connsiteX23" fmla="*/ 2184400 w 2847975"/>
            <a:gd name="connsiteY23" fmla="*/ 1190625 h 1225550"/>
            <a:gd name="connsiteX24" fmla="*/ 2441575 w 2847975"/>
            <a:gd name="connsiteY24" fmla="*/ 1216025 h 1225550"/>
            <a:gd name="connsiteX25" fmla="*/ 2771775 w 2847975"/>
            <a:gd name="connsiteY25" fmla="*/ 1219200 h 1225550"/>
            <a:gd name="connsiteX26" fmla="*/ 2847975 w 2847975"/>
            <a:gd name="connsiteY26" fmla="*/ 1225550 h 1225550"/>
          </a:gdLst>
          <a:ahLst/>
          <a:cxnLst>
            <a:cxn ang="0">
              <a:pos x="connsiteX0" y="connsiteY0"/>
            </a:cxn>
            <a:cxn ang="0">
              <a:pos x="connsiteX1" y="connsiteY1"/>
            </a:cxn>
            <a:cxn ang="0">
              <a:pos x="connsiteX2" y="connsiteY2"/>
            </a:cxn>
            <a:cxn ang="0">
              <a:pos x="connsiteX3" y="connsiteY3"/>
            </a:cxn>
            <a:cxn ang="0">
              <a:pos x="connsiteX4" y="connsiteY4"/>
            </a:cxn>
            <a:cxn ang="0">
              <a:pos x="connsiteX5" y="connsiteY5"/>
            </a:cxn>
            <a:cxn ang="0">
              <a:pos x="connsiteX6" y="connsiteY6"/>
            </a:cxn>
            <a:cxn ang="0">
              <a:pos x="connsiteX7" y="connsiteY7"/>
            </a:cxn>
            <a:cxn ang="0">
              <a:pos x="connsiteX8" y="connsiteY8"/>
            </a:cxn>
            <a:cxn ang="0">
              <a:pos x="connsiteX9" y="connsiteY9"/>
            </a:cxn>
            <a:cxn ang="0">
              <a:pos x="connsiteX10" y="connsiteY10"/>
            </a:cxn>
            <a:cxn ang="0">
              <a:pos x="connsiteX11" y="connsiteY11"/>
            </a:cxn>
            <a:cxn ang="0">
              <a:pos x="connsiteX12" y="connsiteY12"/>
            </a:cxn>
            <a:cxn ang="0">
              <a:pos x="connsiteX13" y="connsiteY13"/>
            </a:cxn>
            <a:cxn ang="0">
              <a:pos x="connsiteX14" y="connsiteY14"/>
            </a:cxn>
            <a:cxn ang="0">
              <a:pos x="connsiteX15" y="connsiteY15"/>
            </a:cxn>
            <a:cxn ang="0">
              <a:pos x="connsiteX16" y="connsiteY16"/>
            </a:cxn>
            <a:cxn ang="0">
              <a:pos x="connsiteX17" y="connsiteY17"/>
            </a:cxn>
            <a:cxn ang="0">
              <a:pos x="connsiteX18" y="connsiteY18"/>
            </a:cxn>
            <a:cxn ang="0">
              <a:pos x="connsiteX19" y="connsiteY19"/>
            </a:cxn>
            <a:cxn ang="0">
              <a:pos x="connsiteX20" y="connsiteY20"/>
            </a:cxn>
            <a:cxn ang="0">
              <a:pos x="connsiteX21" y="connsiteY21"/>
            </a:cxn>
            <a:cxn ang="0">
              <a:pos x="connsiteX22" y="connsiteY22"/>
            </a:cxn>
            <a:cxn ang="0">
              <a:pos x="connsiteX23" y="connsiteY23"/>
            </a:cxn>
            <a:cxn ang="0">
              <a:pos x="connsiteX24" y="connsiteY24"/>
            </a:cxn>
            <a:cxn ang="0">
              <a:pos x="connsiteX25" y="connsiteY25"/>
            </a:cxn>
            <a:cxn ang="0">
              <a:pos x="connsiteX26" y="connsiteY26"/>
            </a:cxn>
          </a:cxnLst>
          <a:rect l="l" t="t" r="r" b="b"/>
          <a:pathLst>
            <a:path w="2847975" h="1225550">
              <a:moveTo>
                <a:pt x="0" y="0"/>
              </a:moveTo>
              <a:lnTo>
                <a:pt x="34925" y="82550"/>
              </a:lnTo>
              <a:lnTo>
                <a:pt x="60325" y="165100"/>
              </a:lnTo>
              <a:lnTo>
                <a:pt x="107950" y="250825"/>
              </a:lnTo>
              <a:lnTo>
                <a:pt x="149225" y="311150"/>
              </a:lnTo>
              <a:lnTo>
                <a:pt x="203200" y="377825"/>
              </a:lnTo>
              <a:lnTo>
                <a:pt x="215900" y="419100"/>
              </a:lnTo>
              <a:lnTo>
                <a:pt x="273050" y="501650"/>
              </a:lnTo>
              <a:lnTo>
                <a:pt x="307975" y="574675"/>
              </a:lnTo>
              <a:lnTo>
                <a:pt x="365125" y="666750"/>
              </a:lnTo>
              <a:lnTo>
                <a:pt x="441325" y="708025"/>
              </a:lnTo>
              <a:lnTo>
                <a:pt x="501650" y="762000"/>
              </a:lnTo>
              <a:lnTo>
                <a:pt x="555625" y="793750"/>
              </a:lnTo>
              <a:lnTo>
                <a:pt x="600075" y="847725"/>
              </a:lnTo>
              <a:lnTo>
                <a:pt x="692150" y="898525"/>
              </a:lnTo>
              <a:lnTo>
                <a:pt x="758825" y="936625"/>
              </a:lnTo>
              <a:lnTo>
                <a:pt x="898525" y="1000125"/>
              </a:lnTo>
              <a:lnTo>
                <a:pt x="981075" y="1044575"/>
              </a:lnTo>
              <a:lnTo>
                <a:pt x="1082675" y="1092200"/>
              </a:lnTo>
              <a:lnTo>
                <a:pt x="1235075" y="1133475"/>
              </a:lnTo>
              <a:lnTo>
                <a:pt x="1349375" y="1149350"/>
              </a:lnTo>
              <a:lnTo>
                <a:pt x="1625600" y="1162050"/>
              </a:lnTo>
              <a:lnTo>
                <a:pt x="1873250" y="1184275"/>
              </a:lnTo>
              <a:lnTo>
                <a:pt x="2184400" y="1190625"/>
              </a:lnTo>
              <a:lnTo>
                <a:pt x="2441575" y="1216025"/>
              </a:lnTo>
              <a:lnTo>
                <a:pt x="2771775" y="1219200"/>
              </a:lnTo>
              <a:lnTo>
                <a:pt x="2847975" y="1225550"/>
              </a:lnTo>
            </a:path>
          </a:pathLst>
        </a:custGeom>
        <a:noFill xmlns:a="http://schemas.openxmlformats.org/drawingml/2006/main"/>
        <a:ln xmlns:a="http://schemas.openxmlformats.org/drawingml/2006/main" w="28575"/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vertOverflow="clip" rtlCol="0" anchor="ctr">
          <a:spAutoFit/>
        </a:bodyPr>
        <a:lstStyle xmlns:a="http://schemas.openxmlformats.org/drawingml/2006/main"/>
        <a:p xmlns:a="http://schemas.openxmlformats.org/drawingml/2006/main">
          <a:endParaRPr lang="en-US"/>
        </a:p>
      </cdr:txBody>
    </cdr:sp>
  </cdr:relSizeAnchor>
  <cdr:relSizeAnchor xmlns:cdr="http://schemas.openxmlformats.org/drawingml/2006/chartDrawing">
    <cdr:from>
      <cdr:x>0.09859</cdr:x>
      <cdr:y>0.11321</cdr:y>
    </cdr:from>
    <cdr:to>
      <cdr:x>0.93615</cdr:x>
      <cdr:y>0.5601</cdr:y>
    </cdr:to>
    <cdr:sp macro="" textlink="">
      <cdr:nvSpPr>
        <cdr:cNvPr id="4" name="Freeform 3"/>
        <cdr:cNvSpPr/>
      </cdr:nvSpPr>
      <cdr:spPr>
        <a:xfrm xmlns:a="http://schemas.openxmlformats.org/drawingml/2006/main">
          <a:off x="333375" y="254794"/>
          <a:ext cx="2832100" cy="1005840"/>
        </a:xfrm>
        <a:custGeom xmlns:a="http://schemas.openxmlformats.org/drawingml/2006/main">
          <a:avLst/>
          <a:gdLst>
            <a:gd name="connsiteX0" fmla="*/ 0 w 2781300"/>
            <a:gd name="connsiteY0" fmla="*/ 0 h 863600"/>
            <a:gd name="connsiteX1" fmla="*/ 63500 w 2781300"/>
            <a:gd name="connsiteY1" fmla="*/ 66675 h 863600"/>
            <a:gd name="connsiteX2" fmla="*/ 104775 w 2781300"/>
            <a:gd name="connsiteY2" fmla="*/ 111125 h 863600"/>
            <a:gd name="connsiteX3" fmla="*/ 142875 w 2781300"/>
            <a:gd name="connsiteY3" fmla="*/ 196850 h 863600"/>
            <a:gd name="connsiteX4" fmla="*/ 206375 w 2781300"/>
            <a:gd name="connsiteY4" fmla="*/ 225425 h 863600"/>
            <a:gd name="connsiteX5" fmla="*/ 282575 w 2781300"/>
            <a:gd name="connsiteY5" fmla="*/ 342900 h 863600"/>
            <a:gd name="connsiteX6" fmla="*/ 339725 w 2781300"/>
            <a:gd name="connsiteY6" fmla="*/ 431800 h 863600"/>
            <a:gd name="connsiteX7" fmla="*/ 409575 w 2781300"/>
            <a:gd name="connsiteY7" fmla="*/ 457200 h 863600"/>
            <a:gd name="connsiteX8" fmla="*/ 460375 w 2781300"/>
            <a:gd name="connsiteY8" fmla="*/ 571500 h 863600"/>
            <a:gd name="connsiteX9" fmla="*/ 542925 w 2781300"/>
            <a:gd name="connsiteY9" fmla="*/ 650875 h 863600"/>
            <a:gd name="connsiteX10" fmla="*/ 644525 w 2781300"/>
            <a:gd name="connsiteY10" fmla="*/ 727075 h 863600"/>
            <a:gd name="connsiteX11" fmla="*/ 809625 w 2781300"/>
            <a:gd name="connsiteY11" fmla="*/ 727075 h 863600"/>
            <a:gd name="connsiteX12" fmla="*/ 863600 w 2781300"/>
            <a:gd name="connsiteY12" fmla="*/ 762000 h 863600"/>
            <a:gd name="connsiteX13" fmla="*/ 1022350 w 2781300"/>
            <a:gd name="connsiteY13" fmla="*/ 815975 h 863600"/>
            <a:gd name="connsiteX14" fmla="*/ 1149350 w 2781300"/>
            <a:gd name="connsiteY14" fmla="*/ 860425 h 863600"/>
            <a:gd name="connsiteX15" fmla="*/ 1371600 w 2781300"/>
            <a:gd name="connsiteY15" fmla="*/ 863600 h 863600"/>
            <a:gd name="connsiteX16" fmla="*/ 1428750 w 2781300"/>
            <a:gd name="connsiteY16" fmla="*/ 825500 h 863600"/>
            <a:gd name="connsiteX17" fmla="*/ 1609725 w 2781300"/>
            <a:gd name="connsiteY17" fmla="*/ 812800 h 863600"/>
            <a:gd name="connsiteX18" fmla="*/ 1717675 w 2781300"/>
            <a:gd name="connsiteY18" fmla="*/ 739775 h 863600"/>
            <a:gd name="connsiteX19" fmla="*/ 1847850 w 2781300"/>
            <a:gd name="connsiteY19" fmla="*/ 682625 h 863600"/>
            <a:gd name="connsiteX20" fmla="*/ 1924050 w 2781300"/>
            <a:gd name="connsiteY20" fmla="*/ 657225 h 863600"/>
            <a:gd name="connsiteX21" fmla="*/ 2041525 w 2781300"/>
            <a:gd name="connsiteY21" fmla="*/ 625475 h 863600"/>
            <a:gd name="connsiteX22" fmla="*/ 2111375 w 2781300"/>
            <a:gd name="connsiteY22" fmla="*/ 546100 h 863600"/>
            <a:gd name="connsiteX23" fmla="*/ 2200275 w 2781300"/>
            <a:gd name="connsiteY23" fmla="*/ 479425 h 863600"/>
            <a:gd name="connsiteX24" fmla="*/ 2244725 w 2781300"/>
            <a:gd name="connsiteY24" fmla="*/ 431800 h 863600"/>
            <a:gd name="connsiteX25" fmla="*/ 2359025 w 2781300"/>
            <a:gd name="connsiteY25" fmla="*/ 384175 h 863600"/>
            <a:gd name="connsiteX26" fmla="*/ 2524125 w 2781300"/>
            <a:gd name="connsiteY26" fmla="*/ 358775 h 863600"/>
            <a:gd name="connsiteX27" fmla="*/ 2679700 w 2781300"/>
            <a:gd name="connsiteY27" fmla="*/ 314325 h 863600"/>
            <a:gd name="connsiteX28" fmla="*/ 2781300 w 2781300"/>
            <a:gd name="connsiteY28" fmla="*/ 292100 h 863600"/>
          </a:gdLst>
          <a:ahLst/>
          <a:cxnLst>
            <a:cxn ang="0">
              <a:pos x="connsiteX0" y="connsiteY0"/>
            </a:cxn>
            <a:cxn ang="0">
              <a:pos x="connsiteX1" y="connsiteY1"/>
            </a:cxn>
            <a:cxn ang="0">
              <a:pos x="connsiteX2" y="connsiteY2"/>
            </a:cxn>
            <a:cxn ang="0">
              <a:pos x="connsiteX3" y="connsiteY3"/>
            </a:cxn>
            <a:cxn ang="0">
              <a:pos x="connsiteX4" y="connsiteY4"/>
            </a:cxn>
            <a:cxn ang="0">
              <a:pos x="connsiteX5" y="connsiteY5"/>
            </a:cxn>
            <a:cxn ang="0">
              <a:pos x="connsiteX6" y="connsiteY6"/>
            </a:cxn>
            <a:cxn ang="0">
              <a:pos x="connsiteX7" y="connsiteY7"/>
            </a:cxn>
            <a:cxn ang="0">
              <a:pos x="connsiteX8" y="connsiteY8"/>
            </a:cxn>
            <a:cxn ang="0">
              <a:pos x="connsiteX9" y="connsiteY9"/>
            </a:cxn>
            <a:cxn ang="0">
              <a:pos x="connsiteX10" y="connsiteY10"/>
            </a:cxn>
            <a:cxn ang="0">
              <a:pos x="connsiteX11" y="connsiteY11"/>
            </a:cxn>
            <a:cxn ang="0">
              <a:pos x="connsiteX12" y="connsiteY12"/>
            </a:cxn>
            <a:cxn ang="0">
              <a:pos x="connsiteX13" y="connsiteY13"/>
            </a:cxn>
            <a:cxn ang="0">
              <a:pos x="connsiteX14" y="connsiteY14"/>
            </a:cxn>
            <a:cxn ang="0">
              <a:pos x="connsiteX15" y="connsiteY15"/>
            </a:cxn>
            <a:cxn ang="0">
              <a:pos x="connsiteX16" y="connsiteY16"/>
            </a:cxn>
            <a:cxn ang="0">
              <a:pos x="connsiteX17" y="connsiteY17"/>
            </a:cxn>
            <a:cxn ang="0">
              <a:pos x="connsiteX18" y="connsiteY18"/>
            </a:cxn>
            <a:cxn ang="0">
              <a:pos x="connsiteX19" y="connsiteY19"/>
            </a:cxn>
            <a:cxn ang="0">
              <a:pos x="connsiteX20" y="connsiteY20"/>
            </a:cxn>
            <a:cxn ang="0">
              <a:pos x="connsiteX21" y="connsiteY21"/>
            </a:cxn>
            <a:cxn ang="0">
              <a:pos x="connsiteX22" y="connsiteY22"/>
            </a:cxn>
            <a:cxn ang="0">
              <a:pos x="connsiteX23" y="connsiteY23"/>
            </a:cxn>
            <a:cxn ang="0">
              <a:pos x="connsiteX24" y="connsiteY24"/>
            </a:cxn>
            <a:cxn ang="0">
              <a:pos x="connsiteX25" y="connsiteY25"/>
            </a:cxn>
            <a:cxn ang="0">
              <a:pos x="connsiteX26" y="connsiteY26"/>
            </a:cxn>
            <a:cxn ang="0">
              <a:pos x="connsiteX27" y="connsiteY27"/>
            </a:cxn>
            <a:cxn ang="0">
              <a:pos x="connsiteX28" y="connsiteY28"/>
            </a:cxn>
          </a:cxnLst>
          <a:rect l="l" t="t" r="r" b="b"/>
          <a:pathLst>
            <a:path w="2781300" h="863600">
              <a:moveTo>
                <a:pt x="0" y="0"/>
              </a:moveTo>
              <a:lnTo>
                <a:pt x="63500" y="66675"/>
              </a:lnTo>
              <a:lnTo>
                <a:pt x="104775" y="111125"/>
              </a:lnTo>
              <a:lnTo>
                <a:pt x="142875" y="196850"/>
              </a:lnTo>
              <a:lnTo>
                <a:pt x="206375" y="225425"/>
              </a:lnTo>
              <a:lnTo>
                <a:pt x="282575" y="342900"/>
              </a:lnTo>
              <a:lnTo>
                <a:pt x="339725" y="431800"/>
              </a:lnTo>
              <a:lnTo>
                <a:pt x="409575" y="457200"/>
              </a:lnTo>
              <a:lnTo>
                <a:pt x="460375" y="571500"/>
              </a:lnTo>
              <a:lnTo>
                <a:pt x="542925" y="650875"/>
              </a:lnTo>
              <a:lnTo>
                <a:pt x="644525" y="727075"/>
              </a:lnTo>
              <a:lnTo>
                <a:pt x="809625" y="727075"/>
              </a:lnTo>
              <a:lnTo>
                <a:pt x="863600" y="762000"/>
              </a:lnTo>
              <a:lnTo>
                <a:pt x="1022350" y="815975"/>
              </a:lnTo>
              <a:lnTo>
                <a:pt x="1149350" y="860425"/>
              </a:lnTo>
              <a:lnTo>
                <a:pt x="1371600" y="863600"/>
              </a:lnTo>
              <a:lnTo>
                <a:pt x="1428750" y="825500"/>
              </a:lnTo>
              <a:lnTo>
                <a:pt x="1609725" y="812800"/>
              </a:lnTo>
              <a:lnTo>
                <a:pt x="1717675" y="739775"/>
              </a:lnTo>
              <a:lnTo>
                <a:pt x="1847850" y="682625"/>
              </a:lnTo>
              <a:lnTo>
                <a:pt x="1924050" y="657225"/>
              </a:lnTo>
              <a:lnTo>
                <a:pt x="2041525" y="625475"/>
              </a:lnTo>
              <a:lnTo>
                <a:pt x="2111375" y="546100"/>
              </a:lnTo>
              <a:lnTo>
                <a:pt x="2200275" y="479425"/>
              </a:lnTo>
              <a:lnTo>
                <a:pt x="2244725" y="431800"/>
              </a:lnTo>
              <a:lnTo>
                <a:pt x="2359025" y="384175"/>
              </a:lnTo>
              <a:lnTo>
                <a:pt x="2524125" y="358775"/>
              </a:lnTo>
              <a:lnTo>
                <a:pt x="2679700" y="314325"/>
              </a:lnTo>
              <a:lnTo>
                <a:pt x="2781300" y="292100"/>
              </a:lnTo>
            </a:path>
          </a:pathLst>
        </a:custGeom>
        <a:noFill xmlns:a="http://schemas.openxmlformats.org/drawingml/2006/main"/>
        <a:ln xmlns:a="http://schemas.openxmlformats.org/drawingml/2006/main" w="28575">
          <a:solidFill>
            <a:srgbClr val="FF0000"/>
          </a:solidFill>
        </a:ln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vertOverflow="clip" wrap="square" rtlCol="0" anchor="ctr">
          <a:spAutoFit/>
        </a:bodyPr>
        <a:lstStyle xmlns:a="http://schemas.openxmlformats.org/drawingml/2006/main"/>
        <a:p xmlns:a="http://schemas.openxmlformats.org/drawingml/2006/main">
          <a:endParaRPr lang="en-US"/>
        </a:p>
      </cdr:txBody>
    </cdr:sp>
  </cdr:relSizeAnchor>
</c:userShapes>
</file>

<file path=ppt/drawings/drawing2.xml><?xml version="1.0" encoding="utf-8"?>
<c:userShapes xmlns:c="http://schemas.openxmlformats.org/drawingml/2006/chart">
  <cdr:relSizeAnchor xmlns:cdr="http://schemas.openxmlformats.org/drawingml/2006/chartDrawing">
    <cdr:from>
      <cdr:x>0.09765</cdr:x>
      <cdr:y>0.13578</cdr:y>
    </cdr:from>
    <cdr:to>
      <cdr:x>0.93991</cdr:x>
      <cdr:y>0.68029</cdr:y>
    </cdr:to>
    <cdr:sp macro="" textlink="">
      <cdr:nvSpPr>
        <cdr:cNvPr id="3" name="Freeform 2"/>
        <cdr:cNvSpPr/>
      </cdr:nvSpPr>
      <cdr:spPr>
        <a:xfrm xmlns:a="http://schemas.openxmlformats.org/drawingml/2006/main">
          <a:off x="330200" y="305594"/>
          <a:ext cx="2847975" cy="1225550"/>
        </a:xfrm>
        <a:custGeom xmlns:a="http://schemas.openxmlformats.org/drawingml/2006/main">
          <a:avLst/>
          <a:gdLst>
            <a:gd name="connsiteX0" fmla="*/ 0 w 2847975"/>
            <a:gd name="connsiteY0" fmla="*/ 0 h 1225550"/>
            <a:gd name="connsiteX1" fmla="*/ 34925 w 2847975"/>
            <a:gd name="connsiteY1" fmla="*/ 82550 h 1225550"/>
            <a:gd name="connsiteX2" fmla="*/ 60325 w 2847975"/>
            <a:gd name="connsiteY2" fmla="*/ 165100 h 1225550"/>
            <a:gd name="connsiteX3" fmla="*/ 107950 w 2847975"/>
            <a:gd name="connsiteY3" fmla="*/ 250825 h 1225550"/>
            <a:gd name="connsiteX4" fmla="*/ 149225 w 2847975"/>
            <a:gd name="connsiteY4" fmla="*/ 311150 h 1225550"/>
            <a:gd name="connsiteX5" fmla="*/ 203200 w 2847975"/>
            <a:gd name="connsiteY5" fmla="*/ 377825 h 1225550"/>
            <a:gd name="connsiteX6" fmla="*/ 215900 w 2847975"/>
            <a:gd name="connsiteY6" fmla="*/ 419100 h 1225550"/>
            <a:gd name="connsiteX7" fmla="*/ 273050 w 2847975"/>
            <a:gd name="connsiteY7" fmla="*/ 501650 h 1225550"/>
            <a:gd name="connsiteX8" fmla="*/ 307975 w 2847975"/>
            <a:gd name="connsiteY8" fmla="*/ 574675 h 1225550"/>
            <a:gd name="connsiteX9" fmla="*/ 365125 w 2847975"/>
            <a:gd name="connsiteY9" fmla="*/ 666750 h 1225550"/>
            <a:gd name="connsiteX10" fmla="*/ 441325 w 2847975"/>
            <a:gd name="connsiteY10" fmla="*/ 708025 h 1225550"/>
            <a:gd name="connsiteX11" fmla="*/ 501650 w 2847975"/>
            <a:gd name="connsiteY11" fmla="*/ 762000 h 1225550"/>
            <a:gd name="connsiteX12" fmla="*/ 555625 w 2847975"/>
            <a:gd name="connsiteY12" fmla="*/ 793750 h 1225550"/>
            <a:gd name="connsiteX13" fmla="*/ 600075 w 2847975"/>
            <a:gd name="connsiteY13" fmla="*/ 847725 h 1225550"/>
            <a:gd name="connsiteX14" fmla="*/ 692150 w 2847975"/>
            <a:gd name="connsiteY14" fmla="*/ 898525 h 1225550"/>
            <a:gd name="connsiteX15" fmla="*/ 758825 w 2847975"/>
            <a:gd name="connsiteY15" fmla="*/ 936625 h 1225550"/>
            <a:gd name="connsiteX16" fmla="*/ 898525 w 2847975"/>
            <a:gd name="connsiteY16" fmla="*/ 1000125 h 1225550"/>
            <a:gd name="connsiteX17" fmla="*/ 981075 w 2847975"/>
            <a:gd name="connsiteY17" fmla="*/ 1044575 h 1225550"/>
            <a:gd name="connsiteX18" fmla="*/ 1082675 w 2847975"/>
            <a:gd name="connsiteY18" fmla="*/ 1092200 h 1225550"/>
            <a:gd name="connsiteX19" fmla="*/ 1235075 w 2847975"/>
            <a:gd name="connsiteY19" fmla="*/ 1133475 h 1225550"/>
            <a:gd name="connsiteX20" fmla="*/ 1349375 w 2847975"/>
            <a:gd name="connsiteY20" fmla="*/ 1149350 h 1225550"/>
            <a:gd name="connsiteX21" fmla="*/ 1625600 w 2847975"/>
            <a:gd name="connsiteY21" fmla="*/ 1162050 h 1225550"/>
            <a:gd name="connsiteX22" fmla="*/ 1873250 w 2847975"/>
            <a:gd name="connsiteY22" fmla="*/ 1184275 h 1225550"/>
            <a:gd name="connsiteX23" fmla="*/ 2184400 w 2847975"/>
            <a:gd name="connsiteY23" fmla="*/ 1190625 h 1225550"/>
            <a:gd name="connsiteX24" fmla="*/ 2441575 w 2847975"/>
            <a:gd name="connsiteY24" fmla="*/ 1216025 h 1225550"/>
            <a:gd name="connsiteX25" fmla="*/ 2771775 w 2847975"/>
            <a:gd name="connsiteY25" fmla="*/ 1219200 h 1225550"/>
            <a:gd name="connsiteX26" fmla="*/ 2847975 w 2847975"/>
            <a:gd name="connsiteY26" fmla="*/ 1225550 h 1225550"/>
          </a:gdLst>
          <a:ahLst/>
          <a:cxnLst>
            <a:cxn ang="0">
              <a:pos x="connsiteX0" y="connsiteY0"/>
            </a:cxn>
            <a:cxn ang="0">
              <a:pos x="connsiteX1" y="connsiteY1"/>
            </a:cxn>
            <a:cxn ang="0">
              <a:pos x="connsiteX2" y="connsiteY2"/>
            </a:cxn>
            <a:cxn ang="0">
              <a:pos x="connsiteX3" y="connsiteY3"/>
            </a:cxn>
            <a:cxn ang="0">
              <a:pos x="connsiteX4" y="connsiteY4"/>
            </a:cxn>
            <a:cxn ang="0">
              <a:pos x="connsiteX5" y="connsiteY5"/>
            </a:cxn>
            <a:cxn ang="0">
              <a:pos x="connsiteX6" y="connsiteY6"/>
            </a:cxn>
            <a:cxn ang="0">
              <a:pos x="connsiteX7" y="connsiteY7"/>
            </a:cxn>
            <a:cxn ang="0">
              <a:pos x="connsiteX8" y="connsiteY8"/>
            </a:cxn>
            <a:cxn ang="0">
              <a:pos x="connsiteX9" y="connsiteY9"/>
            </a:cxn>
            <a:cxn ang="0">
              <a:pos x="connsiteX10" y="connsiteY10"/>
            </a:cxn>
            <a:cxn ang="0">
              <a:pos x="connsiteX11" y="connsiteY11"/>
            </a:cxn>
            <a:cxn ang="0">
              <a:pos x="connsiteX12" y="connsiteY12"/>
            </a:cxn>
            <a:cxn ang="0">
              <a:pos x="connsiteX13" y="connsiteY13"/>
            </a:cxn>
            <a:cxn ang="0">
              <a:pos x="connsiteX14" y="connsiteY14"/>
            </a:cxn>
            <a:cxn ang="0">
              <a:pos x="connsiteX15" y="connsiteY15"/>
            </a:cxn>
            <a:cxn ang="0">
              <a:pos x="connsiteX16" y="connsiteY16"/>
            </a:cxn>
            <a:cxn ang="0">
              <a:pos x="connsiteX17" y="connsiteY17"/>
            </a:cxn>
            <a:cxn ang="0">
              <a:pos x="connsiteX18" y="connsiteY18"/>
            </a:cxn>
            <a:cxn ang="0">
              <a:pos x="connsiteX19" y="connsiteY19"/>
            </a:cxn>
            <a:cxn ang="0">
              <a:pos x="connsiteX20" y="connsiteY20"/>
            </a:cxn>
            <a:cxn ang="0">
              <a:pos x="connsiteX21" y="connsiteY21"/>
            </a:cxn>
            <a:cxn ang="0">
              <a:pos x="connsiteX22" y="connsiteY22"/>
            </a:cxn>
            <a:cxn ang="0">
              <a:pos x="connsiteX23" y="connsiteY23"/>
            </a:cxn>
            <a:cxn ang="0">
              <a:pos x="connsiteX24" y="connsiteY24"/>
            </a:cxn>
            <a:cxn ang="0">
              <a:pos x="connsiteX25" y="connsiteY25"/>
            </a:cxn>
            <a:cxn ang="0">
              <a:pos x="connsiteX26" y="connsiteY26"/>
            </a:cxn>
          </a:cxnLst>
          <a:rect l="l" t="t" r="r" b="b"/>
          <a:pathLst>
            <a:path w="2847975" h="1225550">
              <a:moveTo>
                <a:pt x="0" y="0"/>
              </a:moveTo>
              <a:lnTo>
                <a:pt x="34925" y="82550"/>
              </a:lnTo>
              <a:lnTo>
                <a:pt x="60325" y="165100"/>
              </a:lnTo>
              <a:lnTo>
                <a:pt x="107950" y="250825"/>
              </a:lnTo>
              <a:lnTo>
                <a:pt x="149225" y="311150"/>
              </a:lnTo>
              <a:lnTo>
                <a:pt x="203200" y="377825"/>
              </a:lnTo>
              <a:lnTo>
                <a:pt x="215900" y="419100"/>
              </a:lnTo>
              <a:lnTo>
                <a:pt x="273050" y="501650"/>
              </a:lnTo>
              <a:lnTo>
                <a:pt x="307975" y="574675"/>
              </a:lnTo>
              <a:lnTo>
                <a:pt x="365125" y="666750"/>
              </a:lnTo>
              <a:lnTo>
                <a:pt x="441325" y="708025"/>
              </a:lnTo>
              <a:lnTo>
                <a:pt x="501650" y="762000"/>
              </a:lnTo>
              <a:lnTo>
                <a:pt x="555625" y="793750"/>
              </a:lnTo>
              <a:lnTo>
                <a:pt x="600075" y="847725"/>
              </a:lnTo>
              <a:lnTo>
                <a:pt x="692150" y="898525"/>
              </a:lnTo>
              <a:lnTo>
                <a:pt x="758825" y="936625"/>
              </a:lnTo>
              <a:lnTo>
                <a:pt x="898525" y="1000125"/>
              </a:lnTo>
              <a:lnTo>
                <a:pt x="981075" y="1044575"/>
              </a:lnTo>
              <a:lnTo>
                <a:pt x="1082675" y="1092200"/>
              </a:lnTo>
              <a:lnTo>
                <a:pt x="1235075" y="1133475"/>
              </a:lnTo>
              <a:lnTo>
                <a:pt x="1349375" y="1149350"/>
              </a:lnTo>
              <a:lnTo>
                <a:pt x="1625600" y="1162050"/>
              </a:lnTo>
              <a:lnTo>
                <a:pt x="1873250" y="1184275"/>
              </a:lnTo>
              <a:lnTo>
                <a:pt x="2184400" y="1190625"/>
              </a:lnTo>
              <a:lnTo>
                <a:pt x="2441575" y="1216025"/>
              </a:lnTo>
              <a:lnTo>
                <a:pt x="2771775" y="1219200"/>
              </a:lnTo>
              <a:lnTo>
                <a:pt x="2847975" y="1225550"/>
              </a:lnTo>
            </a:path>
          </a:pathLst>
        </a:custGeom>
        <a:noFill xmlns:a="http://schemas.openxmlformats.org/drawingml/2006/main"/>
        <a:ln xmlns:a="http://schemas.openxmlformats.org/drawingml/2006/main" w="28575"/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vertOverflow="clip" rtlCol="0" anchor="ctr">
          <a:spAutoFit/>
        </a:bodyPr>
        <a:lstStyle xmlns:a="http://schemas.openxmlformats.org/drawingml/2006/main"/>
        <a:p xmlns:a="http://schemas.openxmlformats.org/drawingml/2006/main">
          <a:endParaRPr lang="en-US"/>
        </a:p>
      </cdr:txBody>
    </cdr:sp>
  </cdr:relSizeAnchor>
  <cdr:relSizeAnchor xmlns:cdr="http://schemas.openxmlformats.org/drawingml/2006/chartDrawing">
    <cdr:from>
      <cdr:x>0.09859</cdr:x>
      <cdr:y>0.11321</cdr:y>
    </cdr:from>
    <cdr:to>
      <cdr:x>0.93615</cdr:x>
      <cdr:y>0.5601</cdr:y>
    </cdr:to>
    <cdr:sp macro="" textlink="">
      <cdr:nvSpPr>
        <cdr:cNvPr id="4" name="Freeform 3"/>
        <cdr:cNvSpPr/>
      </cdr:nvSpPr>
      <cdr:spPr>
        <a:xfrm xmlns:a="http://schemas.openxmlformats.org/drawingml/2006/main">
          <a:off x="333375" y="254794"/>
          <a:ext cx="2832100" cy="1005840"/>
        </a:xfrm>
        <a:custGeom xmlns:a="http://schemas.openxmlformats.org/drawingml/2006/main">
          <a:avLst/>
          <a:gdLst>
            <a:gd name="connsiteX0" fmla="*/ 0 w 2781300"/>
            <a:gd name="connsiteY0" fmla="*/ 0 h 863600"/>
            <a:gd name="connsiteX1" fmla="*/ 63500 w 2781300"/>
            <a:gd name="connsiteY1" fmla="*/ 66675 h 863600"/>
            <a:gd name="connsiteX2" fmla="*/ 104775 w 2781300"/>
            <a:gd name="connsiteY2" fmla="*/ 111125 h 863600"/>
            <a:gd name="connsiteX3" fmla="*/ 142875 w 2781300"/>
            <a:gd name="connsiteY3" fmla="*/ 196850 h 863600"/>
            <a:gd name="connsiteX4" fmla="*/ 206375 w 2781300"/>
            <a:gd name="connsiteY4" fmla="*/ 225425 h 863600"/>
            <a:gd name="connsiteX5" fmla="*/ 282575 w 2781300"/>
            <a:gd name="connsiteY5" fmla="*/ 342900 h 863600"/>
            <a:gd name="connsiteX6" fmla="*/ 339725 w 2781300"/>
            <a:gd name="connsiteY6" fmla="*/ 431800 h 863600"/>
            <a:gd name="connsiteX7" fmla="*/ 409575 w 2781300"/>
            <a:gd name="connsiteY7" fmla="*/ 457200 h 863600"/>
            <a:gd name="connsiteX8" fmla="*/ 460375 w 2781300"/>
            <a:gd name="connsiteY8" fmla="*/ 571500 h 863600"/>
            <a:gd name="connsiteX9" fmla="*/ 542925 w 2781300"/>
            <a:gd name="connsiteY9" fmla="*/ 650875 h 863600"/>
            <a:gd name="connsiteX10" fmla="*/ 644525 w 2781300"/>
            <a:gd name="connsiteY10" fmla="*/ 727075 h 863600"/>
            <a:gd name="connsiteX11" fmla="*/ 809625 w 2781300"/>
            <a:gd name="connsiteY11" fmla="*/ 727075 h 863600"/>
            <a:gd name="connsiteX12" fmla="*/ 863600 w 2781300"/>
            <a:gd name="connsiteY12" fmla="*/ 762000 h 863600"/>
            <a:gd name="connsiteX13" fmla="*/ 1022350 w 2781300"/>
            <a:gd name="connsiteY13" fmla="*/ 815975 h 863600"/>
            <a:gd name="connsiteX14" fmla="*/ 1149350 w 2781300"/>
            <a:gd name="connsiteY14" fmla="*/ 860425 h 863600"/>
            <a:gd name="connsiteX15" fmla="*/ 1371600 w 2781300"/>
            <a:gd name="connsiteY15" fmla="*/ 863600 h 863600"/>
            <a:gd name="connsiteX16" fmla="*/ 1428750 w 2781300"/>
            <a:gd name="connsiteY16" fmla="*/ 825500 h 863600"/>
            <a:gd name="connsiteX17" fmla="*/ 1609725 w 2781300"/>
            <a:gd name="connsiteY17" fmla="*/ 812800 h 863600"/>
            <a:gd name="connsiteX18" fmla="*/ 1717675 w 2781300"/>
            <a:gd name="connsiteY18" fmla="*/ 739775 h 863600"/>
            <a:gd name="connsiteX19" fmla="*/ 1847850 w 2781300"/>
            <a:gd name="connsiteY19" fmla="*/ 682625 h 863600"/>
            <a:gd name="connsiteX20" fmla="*/ 1924050 w 2781300"/>
            <a:gd name="connsiteY20" fmla="*/ 657225 h 863600"/>
            <a:gd name="connsiteX21" fmla="*/ 2041525 w 2781300"/>
            <a:gd name="connsiteY21" fmla="*/ 625475 h 863600"/>
            <a:gd name="connsiteX22" fmla="*/ 2111375 w 2781300"/>
            <a:gd name="connsiteY22" fmla="*/ 546100 h 863600"/>
            <a:gd name="connsiteX23" fmla="*/ 2200275 w 2781300"/>
            <a:gd name="connsiteY23" fmla="*/ 479425 h 863600"/>
            <a:gd name="connsiteX24" fmla="*/ 2244725 w 2781300"/>
            <a:gd name="connsiteY24" fmla="*/ 431800 h 863600"/>
            <a:gd name="connsiteX25" fmla="*/ 2359025 w 2781300"/>
            <a:gd name="connsiteY25" fmla="*/ 384175 h 863600"/>
            <a:gd name="connsiteX26" fmla="*/ 2524125 w 2781300"/>
            <a:gd name="connsiteY26" fmla="*/ 358775 h 863600"/>
            <a:gd name="connsiteX27" fmla="*/ 2679700 w 2781300"/>
            <a:gd name="connsiteY27" fmla="*/ 314325 h 863600"/>
            <a:gd name="connsiteX28" fmla="*/ 2781300 w 2781300"/>
            <a:gd name="connsiteY28" fmla="*/ 292100 h 863600"/>
          </a:gdLst>
          <a:ahLst/>
          <a:cxnLst>
            <a:cxn ang="0">
              <a:pos x="connsiteX0" y="connsiteY0"/>
            </a:cxn>
            <a:cxn ang="0">
              <a:pos x="connsiteX1" y="connsiteY1"/>
            </a:cxn>
            <a:cxn ang="0">
              <a:pos x="connsiteX2" y="connsiteY2"/>
            </a:cxn>
            <a:cxn ang="0">
              <a:pos x="connsiteX3" y="connsiteY3"/>
            </a:cxn>
            <a:cxn ang="0">
              <a:pos x="connsiteX4" y="connsiteY4"/>
            </a:cxn>
            <a:cxn ang="0">
              <a:pos x="connsiteX5" y="connsiteY5"/>
            </a:cxn>
            <a:cxn ang="0">
              <a:pos x="connsiteX6" y="connsiteY6"/>
            </a:cxn>
            <a:cxn ang="0">
              <a:pos x="connsiteX7" y="connsiteY7"/>
            </a:cxn>
            <a:cxn ang="0">
              <a:pos x="connsiteX8" y="connsiteY8"/>
            </a:cxn>
            <a:cxn ang="0">
              <a:pos x="connsiteX9" y="connsiteY9"/>
            </a:cxn>
            <a:cxn ang="0">
              <a:pos x="connsiteX10" y="connsiteY10"/>
            </a:cxn>
            <a:cxn ang="0">
              <a:pos x="connsiteX11" y="connsiteY11"/>
            </a:cxn>
            <a:cxn ang="0">
              <a:pos x="connsiteX12" y="connsiteY12"/>
            </a:cxn>
            <a:cxn ang="0">
              <a:pos x="connsiteX13" y="connsiteY13"/>
            </a:cxn>
            <a:cxn ang="0">
              <a:pos x="connsiteX14" y="connsiteY14"/>
            </a:cxn>
            <a:cxn ang="0">
              <a:pos x="connsiteX15" y="connsiteY15"/>
            </a:cxn>
            <a:cxn ang="0">
              <a:pos x="connsiteX16" y="connsiteY16"/>
            </a:cxn>
            <a:cxn ang="0">
              <a:pos x="connsiteX17" y="connsiteY17"/>
            </a:cxn>
            <a:cxn ang="0">
              <a:pos x="connsiteX18" y="connsiteY18"/>
            </a:cxn>
            <a:cxn ang="0">
              <a:pos x="connsiteX19" y="connsiteY19"/>
            </a:cxn>
            <a:cxn ang="0">
              <a:pos x="connsiteX20" y="connsiteY20"/>
            </a:cxn>
            <a:cxn ang="0">
              <a:pos x="connsiteX21" y="connsiteY21"/>
            </a:cxn>
            <a:cxn ang="0">
              <a:pos x="connsiteX22" y="connsiteY22"/>
            </a:cxn>
            <a:cxn ang="0">
              <a:pos x="connsiteX23" y="connsiteY23"/>
            </a:cxn>
            <a:cxn ang="0">
              <a:pos x="connsiteX24" y="connsiteY24"/>
            </a:cxn>
            <a:cxn ang="0">
              <a:pos x="connsiteX25" y="connsiteY25"/>
            </a:cxn>
            <a:cxn ang="0">
              <a:pos x="connsiteX26" y="connsiteY26"/>
            </a:cxn>
            <a:cxn ang="0">
              <a:pos x="connsiteX27" y="connsiteY27"/>
            </a:cxn>
            <a:cxn ang="0">
              <a:pos x="connsiteX28" y="connsiteY28"/>
            </a:cxn>
          </a:cxnLst>
          <a:rect l="l" t="t" r="r" b="b"/>
          <a:pathLst>
            <a:path w="2781300" h="863600">
              <a:moveTo>
                <a:pt x="0" y="0"/>
              </a:moveTo>
              <a:lnTo>
                <a:pt x="63500" y="66675"/>
              </a:lnTo>
              <a:lnTo>
                <a:pt x="104775" y="111125"/>
              </a:lnTo>
              <a:lnTo>
                <a:pt x="142875" y="196850"/>
              </a:lnTo>
              <a:lnTo>
                <a:pt x="206375" y="225425"/>
              </a:lnTo>
              <a:lnTo>
                <a:pt x="282575" y="342900"/>
              </a:lnTo>
              <a:lnTo>
                <a:pt x="339725" y="431800"/>
              </a:lnTo>
              <a:lnTo>
                <a:pt x="409575" y="457200"/>
              </a:lnTo>
              <a:lnTo>
                <a:pt x="460375" y="571500"/>
              </a:lnTo>
              <a:lnTo>
                <a:pt x="542925" y="650875"/>
              </a:lnTo>
              <a:lnTo>
                <a:pt x="644525" y="727075"/>
              </a:lnTo>
              <a:lnTo>
                <a:pt x="809625" y="727075"/>
              </a:lnTo>
              <a:lnTo>
                <a:pt x="863600" y="762000"/>
              </a:lnTo>
              <a:lnTo>
                <a:pt x="1022350" y="815975"/>
              </a:lnTo>
              <a:lnTo>
                <a:pt x="1149350" y="860425"/>
              </a:lnTo>
              <a:lnTo>
                <a:pt x="1371600" y="863600"/>
              </a:lnTo>
              <a:lnTo>
                <a:pt x="1428750" y="825500"/>
              </a:lnTo>
              <a:lnTo>
                <a:pt x="1609725" y="812800"/>
              </a:lnTo>
              <a:lnTo>
                <a:pt x="1717675" y="739775"/>
              </a:lnTo>
              <a:lnTo>
                <a:pt x="1847850" y="682625"/>
              </a:lnTo>
              <a:lnTo>
                <a:pt x="1924050" y="657225"/>
              </a:lnTo>
              <a:lnTo>
                <a:pt x="2041525" y="625475"/>
              </a:lnTo>
              <a:lnTo>
                <a:pt x="2111375" y="546100"/>
              </a:lnTo>
              <a:lnTo>
                <a:pt x="2200275" y="479425"/>
              </a:lnTo>
              <a:lnTo>
                <a:pt x="2244725" y="431800"/>
              </a:lnTo>
              <a:lnTo>
                <a:pt x="2359025" y="384175"/>
              </a:lnTo>
              <a:lnTo>
                <a:pt x="2524125" y="358775"/>
              </a:lnTo>
              <a:lnTo>
                <a:pt x="2679700" y="314325"/>
              </a:lnTo>
              <a:lnTo>
                <a:pt x="2781300" y="292100"/>
              </a:lnTo>
            </a:path>
          </a:pathLst>
        </a:custGeom>
        <a:noFill xmlns:a="http://schemas.openxmlformats.org/drawingml/2006/main"/>
        <a:ln xmlns:a="http://schemas.openxmlformats.org/drawingml/2006/main" w="28575">
          <a:solidFill>
            <a:srgbClr val="FF0000"/>
          </a:solidFill>
        </a:ln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vertOverflow="clip" wrap="square" rtlCol="0" anchor="ctr">
          <a:spAutoFit/>
        </a:bodyPr>
        <a:lstStyle xmlns:a="http://schemas.openxmlformats.org/drawingml/2006/main"/>
        <a:p xmlns:a="http://schemas.openxmlformats.org/drawingml/2006/main">
          <a:endParaRPr lang="en-US"/>
        </a:p>
      </cdr:txBody>
    </cdr:sp>
  </cdr:relSizeAnchor>
</c:userShapes>
</file>

<file path=ppt/drawings/drawing3.xml><?xml version="1.0" encoding="utf-8"?>
<c:userShapes xmlns:c="http://schemas.openxmlformats.org/drawingml/2006/chart">
  <cdr:relSizeAnchor xmlns:cdr="http://schemas.openxmlformats.org/drawingml/2006/chartDrawing">
    <cdr:from>
      <cdr:x>0.09765</cdr:x>
      <cdr:y>0.13578</cdr:y>
    </cdr:from>
    <cdr:to>
      <cdr:x>0.93991</cdr:x>
      <cdr:y>0.68029</cdr:y>
    </cdr:to>
    <cdr:sp macro="" textlink="">
      <cdr:nvSpPr>
        <cdr:cNvPr id="3" name="Freeform 2"/>
        <cdr:cNvSpPr/>
      </cdr:nvSpPr>
      <cdr:spPr>
        <a:xfrm xmlns:a="http://schemas.openxmlformats.org/drawingml/2006/main">
          <a:off x="330200" y="305594"/>
          <a:ext cx="2847975" cy="1225550"/>
        </a:xfrm>
        <a:custGeom xmlns:a="http://schemas.openxmlformats.org/drawingml/2006/main">
          <a:avLst/>
          <a:gdLst>
            <a:gd name="connsiteX0" fmla="*/ 0 w 2847975"/>
            <a:gd name="connsiteY0" fmla="*/ 0 h 1225550"/>
            <a:gd name="connsiteX1" fmla="*/ 34925 w 2847975"/>
            <a:gd name="connsiteY1" fmla="*/ 82550 h 1225550"/>
            <a:gd name="connsiteX2" fmla="*/ 60325 w 2847975"/>
            <a:gd name="connsiteY2" fmla="*/ 165100 h 1225550"/>
            <a:gd name="connsiteX3" fmla="*/ 107950 w 2847975"/>
            <a:gd name="connsiteY3" fmla="*/ 250825 h 1225550"/>
            <a:gd name="connsiteX4" fmla="*/ 149225 w 2847975"/>
            <a:gd name="connsiteY4" fmla="*/ 311150 h 1225550"/>
            <a:gd name="connsiteX5" fmla="*/ 203200 w 2847975"/>
            <a:gd name="connsiteY5" fmla="*/ 377825 h 1225550"/>
            <a:gd name="connsiteX6" fmla="*/ 215900 w 2847975"/>
            <a:gd name="connsiteY6" fmla="*/ 419100 h 1225550"/>
            <a:gd name="connsiteX7" fmla="*/ 273050 w 2847975"/>
            <a:gd name="connsiteY7" fmla="*/ 501650 h 1225550"/>
            <a:gd name="connsiteX8" fmla="*/ 307975 w 2847975"/>
            <a:gd name="connsiteY8" fmla="*/ 574675 h 1225550"/>
            <a:gd name="connsiteX9" fmla="*/ 365125 w 2847975"/>
            <a:gd name="connsiteY9" fmla="*/ 666750 h 1225550"/>
            <a:gd name="connsiteX10" fmla="*/ 441325 w 2847975"/>
            <a:gd name="connsiteY10" fmla="*/ 708025 h 1225550"/>
            <a:gd name="connsiteX11" fmla="*/ 501650 w 2847975"/>
            <a:gd name="connsiteY11" fmla="*/ 762000 h 1225550"/>
            <a:gd name="connsiteX12" fmla="*/ 555625 w 2847975"/>
            <a:gd name="connsiteY12" fmla="*/ 793750 h 1225550"/>
            <a:gd name="connsiteX13" fmla="*/ 600075 w 2847975"/>
            <a:gd name="connsiteY13" fmla="*/ 847725 h 1225550"/>
            <a:gd name="connsiteX14" fmla="*/ 692150 w 2847975"/>
            <a:gd name="connsiteY14" fmla="*/ 898525 h 1225550"/>
            <a:gd name="connsiteX15" fmla="*/ 758825 w 2847975"/>
            <a:gd name="connsiteY15" fmla="*/ 936625 h 1225550"/>
            <a:gd name="connsiteX16" fmla="*/ 898525 w 2847975"/>
            <a:gd name="connsiteY16" fmla="*/ 1000125 h 1225550"/>
            <a:gd name="connsiteX17" fmla="*/ 981075 w 2847975"/>
            <a:gd name="connsiteY17" fmla="*/ 1044575 h 1225550"/>
            <a:gd name="connsiteX18" fmla="*/ 1082675 w 2847975"/>
            <a:gd name="connsiteY18" fmla="*/ 1092200 h 1225550"/>
            <a:gd name="connsiteX19" fmla="*/ 1235075 w 2847975"/>
            <a:gd name="connsiteY19" fmla="*/ 1133475 h 1225550"/>
            <a:gd name="connsiteX20" fmla="*/ 1349375 w 2847975"/>
            <a:gd name="connsiteY20" fmla="*/ 1149350 h 1225550"/>
            <a:gd name="connsiteX21" fmla="*/ 1625600 w 2847975"/>
            <a:gd name="connsiteY21" fmla="*/ 1162050 h 1225550"/>
            <a:gd name="connsiteX22" fmla="*/ 1873250 w 2847975"/>
            <a:gd name="connsiteY22" fmla="*/ 1184275 h 1225550"/>
            <a:gd name="connsiteX23" fmla="*/ 2184400 w 2847975"/>
            <a:gd name="connsiteY23" fmla="*/ 1190625 h 1225550"/>
            <a:gd name="connsiteX24" fmla="*/ 2441575 w 2847975"/>
            <a:gd name="connsiteY24" fmla="*/ 1216025 h 1225550"/>
            <a:gd name="connsiteX25" fmla="*/ 2771775 w 2847975"/>
            <a:gd name="connsiteY25" fmla="*/ 1219200 h 1225550"/>
            <a:gd name="connsiteX26" fmla="*/ 2847975 w 2847975"/>
            <a:gd name="connsiteY26" fmla="*/ 1225550 h 1225550"/>
          </a:gdLst>
          <a:ahLst/>
          <a:cxnLst>
            <a:cxn ang="0">
              <a:pos x="connsiteX0" y="connsiteY0"/>
            </a:cxn>
            <a:cxn ang="0">
              <a:pos x="connsiteX1" y="connsiteY1"/>
            </a:cxn>
            <a:cxn ang="0">
              <a:pos x="connsiteX2" y="connsiteY2"/>
            </a:cxn>
            <a:cxn ang="0">
              <a:pos x="connsiteX3" y="connsiteY3"/>
            </a:cxn>
            <a:cxn ang="0">
              <a:pos x="connsiteX4" y="connsiteY4"/>
            </a:cxn>
            <a:cxn ang="0">
              <a:pos x="connsiteX5" y="connsiteY5"/>
            </a:cxn>
            <a:cxn ang="0">
              <a:pos x="connsiteX6" y="connsiteY6"/>
            </a:cxn>
            <a:cxn ang="0">
              <a:pos x="connsiteX7" y="connsiteY7"/>
            </a:cxn>
            <a:cxn ang="0">
              <a:pos x="connsiteX8" y="connsiteY8"/>
            </a:cxn>
            <a:cxn ang="0">
              <a:pos x="connsiteX9" y="connsiteY9"/>
            </a:cxn>
            <a:cxn ang="0">
              <a:pos x="connsiteX10" y="connsiteY10"/>
            </a:cxn>
            <a:cxn ang="0">
              <a:pos x="connsiteX11" y="connsiteY11"/>
            </a:cxn>
            <a:cxn ang="0">
              <a:pos x="connsiteX12" y="connsiteY12"/>
            </a:cxn>
            <a:cxn ang="0">
              <a:pos x="connsiteX13" y="connsiteY13"/>
            </a:cxn>
            <a:cxn ang="0">
              <a:pos x="connsiteX14" y="connsiteY14"/>
            </a:cxn>
            <a:cxn ang="0">
              <a:pos x="connsiteX15" y="connsiteY15"/>
            </a:cxn>
            <a:cxn ang="0">
              <a:pos x="connsiteX16" y="connsiteY16"/>
            </a:cxn>
            <a:cxn ang="0">
              <a:pos x="connsiteX17" y="connsiteY17"/>
            </a:cxn>
            <a:cxn ang="0">
              <a:pos x="connsiteX18" y="connsiteY18"/>
            </a:cxn>
            <a:cxn ang="0">
              <a:pos x="connsiteX19" y="connsiteY19"/>
            </a:cxn>
            <a:cxn ang="0">
              <a:pos x="connsiteX20" y="connsiteY20"/>
            </a:cxn>
            <a:cxn ang="0">
              <a:pos x="connsiteX21" y="connsiteY21"/>
            </a:cxn>
            <a:cxn ang="0">
              <a:pos x="connsiteX22" y="connsiteY22"/>
            </a:cxn>
            <a:cxn ang="0">
              <a:pos x="connsiteX23" y="connsiteY23"/>
            </a:cxn>
            <a:cxn ang="0">
              <a:pos x="connsiteX24" y="connsiteY24"/>
            </a:cxn>
            <a:cxn ang="0">
              <a:pos x="connsiteX25" y="connsiteY25"/>
            </a:cxn>
            <a:cxn ang="0">
              <a:pos x="connsiteX26" y="connsiteY26"/>
            </a:cxn>
          </a:cxnLst>
          <a:rect l="l" t="t" r="r" b="b"/>
          <a:pathLst>
            <a:path w="2847975" h="1225550">
              <a:moveTo>
                <a:pt x="0" y="0"/>
              </a:moveTo>
              <a:lnTo>
                <a:pt x="34925" y="82550"/>
              </a:lnTo>
              <a:lnTo>
                <a:pt x="60325" y="165100"/>
              </a:lnTo>
              <a:lnTo>
                <a:pt x="107950" y="250825"/>
              </a:lnTo>
              <a:lnTo>
                <a:pt x="149225" y="311150"/>
              </a:lnTo>
              <a:lnTo>
                <a:pt x="203200" y="377825"/>
              </a:lnTo>
              <a:lnTo>
                <a:pt x="215900" y="419100"/>
              </a:lnTo>
              <a:lnTo>
                <a:pt x="273050" y="501650"/>
              </a:lnTo>
              <a:lnTo>
                <a:pt x="307975" y="574675"/>
              </a:lnTo>
              <a:lnTo>
                <a:pt x="365125" y="666750"/>
              </a:lnTo>
              <a:lnTo>
                <a:pt x="441325" y="708025"/>
              </a:lnTo>
              <a:lnTo>
                <a:pt x="501650" y="762000"/>
              </a:lnTo>
              <a:lnTo>
                <a:pt x="555625" y="793750"/>
              </a:lnTo>
              <a:lnTo>
                <a:pt x="600075" y="847725"/>
              </a:lnTo>
              <a:lnTo>
                <a:pt x="692150" y="898525"/>
              </a:lnTo>
              <a:lnTo>
                <a:pt x="758825" y="936625"/>
              </a:lnTo>
              <a:lnTo>
                <a:pt x="898525" y="1000125"/>
              </a:lnTo>
              <a:lnTo>
                <a:pt x="981075" y="1044575"/>
              </a:lnTo>
              <a:lnTo>
                <a:pt x="1082675" y="1092200"/>
              </a:lnTo>
              <a:lnTo>
                <a:pt x="1235075" y="1133475"/>
              </a:lnTo>
              <a:lnTo>
                <a:pt x="1349375" y="1149350"/>
              </a:lnTo>
              <a:lnTo>
                <a:pt x="1625600" y="1162050"/>
              </a:lnTo>
              <a:lnTo>
                <a:pt x="1873250" y="1184275"/>
              </a:lnTo>
              <a:lnTo>
                <a:pt x="2184400" y="1190625"/>
              </a:lnTo>
              <a:lnTo>
                <a:pt x="2441575" y="1216025"/>
              </a:lnTo>
              <a:lnTo>
                <a:pt x="2771775" y="1219200"/>
              </a:lnTo>
              <a:lnTo>
                <a:pt x="2847975" y="1225550"/>
              </a:lnTo>
            </a:path>
          </a:pathLst>
        </a:custGeom>
        <a:noFill xmlns:a="http://schemas.openxmlformats.org/drawingml/2006/main"/>
        <a:ln xmlns:a="http://schemas.openxmlformats.org/drawingml/2006/main" w="28575"/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vertOverflow="clip" rtlCol="0" anchor="ctr">
          <a:spAutoFit/>
        </a:bodyPr>
        <a:lstStyle xmlns:a="http://schemas.openxmlformats.org/drawingml/2006/main"/>
        <a:p xmlns:a="http://schemas.openxmlformats.org/drawingml/2006/main">
          <a:endParaRPr lang="en-US"/>
        </a:p>
      </cdr:txBody>
    </cdr:sp>
  </cdr:relSizeAnchor>
  <cdr:relSizeAnchor xmlns:cdr="http://schemas.openxmlformats.org/drawingml/2006/chartDrawing">
    <cdr:from>
      <cdr:x>0.09859</cdr:x>
      <cdr:y>0.11321</cdr:y>
    </cdr:from>
    <cdr:to>
      <cdr:x>0.93615</cdr:x>
      <cdr:y>0.5601</cdr:y>
    </cdr:to>
    <cdr:sp macro="" textlink="">
      <cdr:nvSpPr>
        <cdr:cNvPr id="4" name="Freeform 3"/>
        <cdr:cNvSpPr/>
      </cdr:nvSpPr>
      <cdr:spPr>
        <a:xfrm xmlns:a="http://schemas.openxmlformats.org/drawingml/2006/main">
          <a:off x="333375" y="254794"/>
          <a:ext cx="2832100" cy="1005840"/>
        </a:xfrm>
        <a:custGeom xmlns:a="http://schemas.openxmlformats.org/drawingml/2006/main">
          <a:avLst/>
          <a:gdLst>
            <a:gd name="connsiteX0" fmla="*/ 0 w 2781300"/>
            <a:gd name="connsiteY0" fmla="*/ 0 h 863600"/>
            <a:gd name="connsiteX1" fmla="*/ 63500 w 2781300"/>
            <a:gd name="connsiteY1" fmla="*/ 66675 h 863600"/>
            <a:gd name="connsiteX2" fmla="*/ 104775 w 2781300"/>
            <a:gd name="connsiteY2" fmla="*/ 111125 h 863600"/>
            <a:gd name="connsiteX3" fmla="*/ 142875 w 2781300"/>
            <a:gd name="connsiteY3" fmla="*/ 196850 h 863600"/>
            <a:gd name="connsiteX4" fmla="*/ 206375 w 2781300"/>
            <a:gd name="connsiteY4" fmla="*/ 225425 h 863600"/>
            <a:gd name="connsiteX5" fmla="*/ 282575 w 2781300"/>
            <a:gd name="connsiteY5" fmla="*/ 342900 h 863600"/>
            <a:gd name="connsiteX6" fmla="*/ 339725 w 2781300"/>
            <a:gd name="connsiteY6" fmla="*/ 431800 h 863600"/>
            <a:gd name="connsiteX7" fmla="*/ 409575 w 2781300"/>
            <a:gd name="connsiteY7" fmla="*/ 457200 h 863600"/>
            <a:gd name="connsiteX8" fmla="*/ 460375 w 2781300"/>
            <a:gd name="connsiteY8" fmla="*/ 571500 h 863600"/>
            <a:gd name="connsiteX9" fmla="*/ 542925 w 2781300"/>
            <a:gd name="connsiteY9" fmla="*/ 650875 h 863600"/>
            <a:gd name="connsiteX10" fmla="*/ 644525 w 2781300"/>
            <a:gd name="connsiteY10" fmla="*/ 727075 h 863600"/>
            <a:gd name="connsiteX11" fmla="*/ 809625 w 2781300"/>
            <a:gd name="connsiteY11" fmla="*/ 727075 h 863600"/>
            <a:gd name="connsiteX12" fmla="*/ 863600 w 2781300"/>
            <a:gd name="connsiteY12" fmla="*/ 762000 h 863600"/>
            <a:gd name="connsiteX13" fmla="*/ 1022350 w 2781300"/>
            <a:gd name="connsiteY13" fmla="*/ 815975 h 863600"/>
            <a:gd name="connsiteX14" fmla="*/ 1149350 w 2781300"/>
            <a:gd name="connsiteY14" fmla="*/ 860425 h 863600"/>
            <a:gd name="connsiteX15" fmla="*/ 1371600 w 2781300"/>
            <a:gd name="connsiteY15" fmla="*/ 863600 h 863600"/>
            <a:gd name="connsiteX16" fmla="*/ 1428750 w 2781300"/>
            <a:gd name="connsiteY16" fmla="*/ 825500 h 863600"/>
            <a:gd name="connsiteX17" fmla="*/ 1609725 w 2781300"/>
            <a:gd name="connsiteY17" fmla="*/ 812800 h 863600"/>
            <a:gd name="connsiteX18" fmla="*/ 1717675 w 2781300"/>
            <a:gd name="connsiteY18" fmla="*/ 739775 h 863600"/>
            <a:gd name="connsiteX19" fmla="*/ 1847850 w 2781300"/>
            <a:gd name="connsiteY19" fmla="*/ 682625 h 863600"/>
            <a:gd name="connsiteX20" fmla="*/ 1924050 w 2781300"/>
            <a:gd name="connsiteY20" fmla="*/ 657225 h 863600"/>
            <a:gd name="connsiteX21" fmla="*/ 2041525 w 2781300"/>
            <a:gd name="connsiteY21" fmla="*/ 625475 h 863600"/>
            <a:gd name="connsiteX22" fmla="*/ 2111375 w 2781300"/>
            <a:gd name="connsiteY22" fmla="*/ 546100 h 863600"/>
            <a:gd name="connsiteX23" fmla="*/ 2200275 w 2781300"/>
            <a:gd name="connsiteY23" fmla="*/ 479425 h 863600"/>
            <a:gd name="connsiteX24" fmla="*/ 2244725 w 2781300"/>
            <a:gd name="connsiteY24" fmla="*/ 431800 h 863600"/>
            <a:gd name="connsiteX25" fmla="*/ 2359025 w 2781300"/>
            <a:gd name="connsiteY25" fmla="*/ 384175 h 863600"/>
            <a:gd name="connsiteX26" fmla="*/ 2524125 w 2781300"/>
            <a:gd name="connsiteY26" fmla="*/ 358775 h 863600"/>
            <a:gd name="connsiteX27" fmla="*/ 2679700 w 2781300"/>
            <a:gd name="connsiteY27" fmla="*/ 314325 h 863600"/>
            <a:gd name="connsiteX28" fmla="*/ 2781300 w 2781300"/>
            <a:gd name="connsiteY28" fmla="*/ 292100 h 863600"/>
          </a:gdLst>
          <a:ahLst/>
          <a:cxnLst>
            <a:cxn ang="0">
              <a:pos x="connsiteX0" y="connsiteY0"/>
            </a:cxn>
            <a:cxn ang="0">
              <a:pos x="connsiteX1" y="connsiteY1"/>
            </a:cxn>
            <a:cxn ang="0">
              <a:pos x="connsiteX2" y="connsiteY2"/>
            </a:cxn>
            <a:cxn ang="0">
              <a:pos x="connsiteX3" y="connsiteY3"/>
            </a:cxn>
            <a:cxn ang="0">
              <a:pos x="connsiteX4" y="connsiteY4"/>
            </a:cxn>
            <a:cxn ang="0">
              <a:pos x="connsiteX5" y="connsiteY5"/>
            </a:cxn>
            <a:cxn ang="0">
              <a:pos x="connsiteX6" y="connsiteY6"/>
            </a:cxn>
            <a:cxn ang="0">
              <a:pos x="connsiteX7" y="connsiteY7"/>
            </a:cxn>
            <a:cxn ang="0">
              <a:pos x="connsiteX8" y="connsiteY8"/>
            </a:cxn>
            <a:cxn ang="0">
              <a:pos x="connsiteX9" y="connsiteY9"/>
            </a:cxn>
            <a:cxn ang="0">
              <a:pos x="connsiteX10" y="connsiteY10"/>
            </a:cxn>
            <a:cxn ang="0">
              <a:pos x="connsiteX11" y="connsiteY11"/>
            </a:cxn>
            <a:cxn ang="0">
              <a:pos x="connsiteX12" y="connsiteY12"/>
            </a:cxn>
            <a:cxn ang="0">
              <a:pos x="connsiteX13" y="connsiteY13"/>
            </a:cxn>
            <a:cxn ang="0">
              <a:pos x="connsiteX14" y="connsiteY14"/>
            </a:cxn>
            <a:cxn ang="0">
              <a:pos x="connsiteX15" y="connsiteY15"/>
            </a:cxn>
            <a:cxn ang="0">
              <a:pos x="connsiteX16" y="connsiteY16"/>
            </a:cxn>
            <a:cxn ang="0">
              <a:pos x="connsiteX17" y="connsiteY17"/>
            </a:cxn>
            <a:cxn ang="0">
              <a:pos x="connsiteX18" y="connsiteY18"/>
            </a:cxn>
            <a:cxn ang="0">
              <a:pos x="connsiteX19" y="connsiteY19"/>
            </a:cxn>
            <a:cxn ang="0">
              <a:pos x="connsiteX20" y="connsiteY20"/>
            </a:cxn>
            <a:cxn ang="0">
              <a:pos x="connsiteX21" y="connsiteY21"/>
            </a:cxn>
            <a:cxn ang="0">
              <a:pos x="connsiteX22" y="connsiteY22"/>
            </a:cxn>
            <a:cxn ang="0">
              <a:pos x="connsiteX23" y="connsiteY23"/>
            </a:cxn>
            <a:cxn ang="0">
              <a:pos x="connsiteX24" y="connsiteY24"/>
            </a:cxn>
            <a:cxn ang="0">
              <a:pos x="connsiteX25" y="connsiteY25"/>
            </a:cxn>
            <a:cxn ang="0">
              <a:pos x="connsiteX26" y="connsiteY26"/>
            </a:cxn>
            <a:cxn ang="0">
              <a:pos x="connsiteX27" y="connsiteY27"/>
            </a:cxn>
            <a:cxn ang="0">
              <a:pos x="connsiteX28" y="connsiteY28"/>
            </a:cxn>
          </a:cxnLst>
          <a:rect l="l" t="t" r="r" b="b"/>
          <a:pathLst>
            <a:path w="2781300" h="863600">
              <a:moveTo>
                <a:pt x="0" y="0"/>
              </a:moveTo>
              <a:lnTo>
                <a:pt x="63500" y="66675"/>
              </a:lnTo>
              <a:lnTo>
                <a:pt x="104775" y="111125"/>
              </a:lnTo>
              <a:lnTo>
                <a:pt x="142875" y="196850"/>
              </a:lnTo>
              <a:lnTo>
                <a:pt x="206375" y="225425"/>
              </a:lnTo>
              <a:lnTo>
                <a:pt x="282575" y="342900"/>
              </a:lnTo>
              <a:lnTo>
                <a:pt x="339725" y="431800"/>
              </a:lnTo>
              <a:lnTo>
                <a:pt x="409575" y="457200"/>
              </a:lnTo>
              <a:lnTo>
                <a:pt x="460375" y="571500"/>
              </a:lnTo>
              <a:lnTo>
                <a:pt x="542925" y="650875"/>
              </a:lnTo>
              <a:lnTo>
                <a:pt x="644525" y="727075"/>
              </a:lnTo>
              <a:lnTo>
                <a:pt x="809625" y="727075"/>
              </a:lnTo>
              <a:lnTo>
                <a:pt x="863600" y="762000"/>
              </a:lnTo>
              <a:lnTo>
                <a:pt x="1022350" y="815975"/>
              </a:lnTo>
              <a:lnTo>
                <a:pt x="1149350" y="860425"/>
              </a:lnTo>
              <a:lnTo>
                <a:pt x="1371600" y="863600"/>
              </a:lnTo>
              <a:lnTo>
                <a:pt x="1428750" y="825500"/>
              </a:lnTo>
              <a:lnTo>
                <a:pt x="1609725" y="812800"/>
              </a:lnTo>
              <a:lnTo>
                <a:pt x="1717675" y="739775"/>
              </a:lnTo>
              <a:lnTo>
                <a:pt x="1847850" y="682625"/>
              </a:lnTo>
              <a:lnTo>
                <a:pt x="1924050" y="657225"/>
              </a:lnTo>
              <a:lnTo>
                <a:pt x="2041525" y="625475"/>
              </a:lnTo>
              <a:lnTo>
                <a:pt x="2111375" y="546100"/>
              </a:lnTo>
              <a:lnTo>
                <a:pt x="2200275" y="479425"/>
              </a:lnTo>
              <a:lnTo>
                <a:pt x="2244725" y="431800"/>
              </a:lnTo>
              <a:lnTo>
                <a:pt x="2359025" y="384175"/>
              </a:lnTo>
              <a:lnTo>
                <a:pt x="2524125" y="358775"/>
              </a:lnTo>
              <a:lnTo>
                <a:pt x="2679700" y="314325"/>
              </a:lnTo>
              <a:lnTo>
                <a:pt x="2781300" y="292100"/>
              </a:lnTo>
            </a:path>
          </a:pathLst>
        </a:custGeom>
        <a:noFill xmlns:a="http://schemas.openxmlformats.org/drawingml/2006/main"/>
        <a:ln xmlns:a="http://schemas.openxmlformats.org/drawingml/2006/main" w="28575">
          <a:solidFill>
            <a:srgbClr val="FF0000"/>
          </a:solidFill>
        </a:ln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vertOverflow="clip" wrap="square" rtlCol="0" anchor="ctr">
          <a:spAutoFit/>
        </a:bodyPr>
        <a:lstStyle xmlns:a="http://schemas.openxmlformats.org/drawingml/2006/main"/>
        <a:p xmlns:a="http://schemas.openxmlformats.org/drawingml/2006/main">
          <a:endParaRPr lang="en-US"/>
        </a:p>
      </cdr:txBody>
    </cdr:sp>
  </cdr:relSizeAnchor>
</c:userShapes>
</file>

<file path=ppt/drawings/drawing4.xml><?xml version="1.0" encoding="utf-8"?>
<c:userShapes xmlns:c="http://schemas.openxmlformats.org/drawingml/2006/chart">
  <cdr:relSizeAnchor xmlns:cdr="http://schemas.openxmlformats.org/drawingml/2006/chartDrawing">
    <cdr:from>
      <cdr:x>0.09765</cdr:x>
      <cdr:y>0.13578</cdr:y>
    </cdr:from>
    <cdr:to>
      <cdr:x>0.93991</cdr:x>
      <cdr:y>0.68029</cdr:y>
    </cdr:to>
    <cdr:sp macro="" textlink="">
      <cdr:nvSpPr>
        <cdr:cNvPr id="3" name="Freeform 2"/>
        <cdr:cNvSpPr/>
      </cdr:nvSpPr>
      <cdr:spPr>
        <a:xfrm xmlns:a="http://schemas.openxmlformats.org/drawingml/2006/main">
          <a:off x="330200" y="305594"/>
          <a:ext cx="2847975" cy="1225550"/>
        </a:xfrm>
        <a:custGeom xmlns:a="http://schemas.openxmlformats.org/drawingml/2006/main">
          <a:avLst/>
          <a:gdLst>
            <a:gd name="connsiteX0" fmla="*/ 0 w 2847975"/>
            <a:gd name="connsiteY0" fmla="*/ 0 h 1225550"/>
            <a:gd name="connsiteX1" fmla="*/ 34925 w 2847975"/>
            <a:gd name="connsiteY1" fmla="*/ 82550 h 1225550"/>
            <a:gd name="connsiteX2" fmla="*/ 60325 w 2847975"/>
            <a:gd name="connsiteY2" fmla="*/ 165100 h 1225550"/>
            <a:gd name="connsiteX3" fmla="*/ 107950 w 2847975"/>
            <a:gd name="connsiteY3" fmla="*/ 250825 h 1225550"/>
            <a:gd name="connsiteX4" fmla="*/ 149225 w 2847975"/>
            <a:gd name="connsiteY4" fmla="*/ 311150 h 1225550"/>
            <a:gd name="connsiteX5" fmla="*/ 203200 w 2847975"/>
            <a:gd name="connsiteY5" fmla="*/ 377825 h 1225550"/>
            <a:gd name="connsiteX6" fmla="*/ 215900 w 2847975"/>
            <a:gd name="connsiteY6" fmla="*/ 419100 h 1225550"/>
            <a:gd name="connsiteX7" fmla="*/ 273050 w 2847975"/>
            <a:gd name="connsiteY7" fmla="*/ 501650 h 1225550"/>
            <a:gd name="connsiteX8" fmla="*/ 307975 w 2847975"/>
            <a:gd name="connsiteY8" fmla="*/ 574675 h 1225550"/>
            <a:gd name="connsiteX9" fmla="*/ 365125 w 2847975"/>
            <a:gd name="connsiteY9" fmla="*/ 666750 h 1225550"/>
            <a:gd name="connsiteX10" fmla="*/ 441325 w 2847975"/>
            <a:gd name="connsiteY10" fmla="*/ 708025 h 1225550"/>
            <a:gd name="connsiteX11" fmla="*/ 501650 w 2847975"/>
            <a:gd name="connsiteY11" fmla="*/ 762000 h 1225550"/>
            <a:gd name="connsiteX12" fmla="*/ 555625 w 2847975"/>
            <a:gd name="connsiteY12" fmla="*/ 793750 h 1225550"/>
            <a:gd name="connsiteX13" fmla="*/ 600075 w 2847975"/>
            <a:gd name="connsiteY13" fmla="*/ 847725 h 1225550"/>
            <a:gd name="connsiteX14" fmla="*/ 692150 w 2847975"/>
            <a:gd name="connsiteY14" fmla="*/ 898525 h 1225550"/>
            <a:gd name="connsiteX15" fmla="*/ 758825 w 2847975"/>
            <a:gd name="connsiteY15" fmla="*/ 936625 h 1225550"/>
            <a:gd name="connsiteX16" fmla="*/ 898525 w 2847975"/>
            <a:gd name="connsiteY16" fmla="*/ 1000125 h 1225550"/>
            <a:gd name="connsiteX17" fmla="*/ 981075 w 2847975"/>
            <a:gd name="connsiteY17" fmla="*/ 1044575 h 1225550"/>
            <a:gd name="connsiteX18" fmla="*/ 1082675 w 2847975"/>
            <a:gd name="connsiteY18" fmla="*/ 1092200 h 1225550"/>
            <a:gd name="connsiteX19" fmla="*/ 1235075 w 2847975"/>
            <a:gd name="connsiteY19" fmla="*/ 1133475 h 1225550"/>
            <a:gd name="connsiteX20" fmla="*/ 1349375 w 2847975"/>
            <a:gd name="connsiteY20" fmla="*/ 1149350 h 1225550"/>
            <a:gd name="connsiteX21" fmla="*/ 1625600 w 2847975"/>
            <a:gd name="connsiteY21" fmla="*/ 1162050 h 1225550"/>
            <a:gd name="connsiteX22" fmla="*/ 1873250 w 2847975"/>
            <a:gd name="connsiteY22" fmla="*/ 1184275 h 1225550"/>
            <a:gd name="connsiteX23" fmla="*/ 2184400 w 2847975"/>
            <a:gd name="connsiteY23" fmla="*/ 1190625 h 1225550"/>
            <a:gd name="connsiteX24" fmla="*/ 2441575 w 2847975"/>
            <a:gd name="connsiteY24" fmla="*/ 1216025 h 1225550"/>
            <a:gd name="connsiteX25" fmla="*/ 2771775 w 2847975"/>
            <a:gd name="connsiteY25" fmla="*/ 1219200 h 1225550"/>
            <a:gd name="connsiteX26" fmla="*/ 2847975 w 2847975"/>
            <a:gd name="connsiteY26" fmla="*/ 1225550 h 1225550"/>
          </a:gdLst>
          <a:ahLst/>
          <a:cxnLst>
            <a:cxn ang="0">
              <a:pos x="connsiteX0" y="connsiteY0"/>
            </a:cxn>
            <a:cxn ang="0">
              <a:pos x="connsiteX1" y="connsiteY1"/>
            </a:cxn>
            <a:cxn ang="0">
              <a:pos x="connsiteX2" y="connsiteY2"/>
            </a:cxn>
            <a:cxn ang="0">
              <a:pos x="connsiteX3" y="connsiteY3"/>
            </a:cxn>
            <a:cxn ang="0">
              <a:pos x="connsiteX4" y="connsiteY4"/>
            </a:cxn>
            <a:cxn ang="0">
              <a:pos x="connsiteX5" y="connsiteY5"/>
            </a:cxn>
            <a:cxn ang="0">
              <a:pos x="connsiteX6" y="connsiteY6"/>
            </a:cxn>
            <a:cxn ang="0">
              <a:pos x="connsiteX7" y="connsiteY7"/>
            </a:cxn>
            <a:cxn ang="0">
              <a:pos x="connsiteX8" y="connsiteY8"/>
            </a:cxn>
            <a:cxn ang="0">
              <a:pos x="connsiteX9" y="connsiteY9"/>
            </a:cxn>
            <a:cxn ang="0">
              <a:pos x="connsiteX10" y="connsiteY10"/>
            </a:cxn>
            <a:cxn ang="0">
              <a:pos x="connsiteX11" y="connsiteY11"/>
            </a:cxn>
            <a:cxn ang="0">
              <a:pos x="connsiteX12" y="connsiteY12"/>
            </a:cxn>
            <a:cxn ang="0">
              <a:pos x="connsiteX13" y="connsiteY13"/>
            </a:cxn>
            <a:cxn ang="0">
              <a:pos x="connsiteX14" y="connsiteY14"/>
            </a:cxn>
            <a:cxn ang="0">
              <a:pos x="connsiteX15" y="connsiteY15"/>
            </a:cxn>
            <a:cxn ang="0">
              <a:pos x="connsiteX16" y="connsiteY16"/>
            </a:cxn>
            <a:cxn ang="0">
              <a:pos x="connsiteX17" y="connsiteY17"/>
            </a:cxn>
            <a:cxn ang="0">
              <a:pos x="connsiteX18" y="connsiteY18"/>
            </a:cxn>
            <a:cxn ang="0">
              <a:pos x="connsiteX19" y="connsiteY19"/>
            </a:cxn>
            <a:cxn ang="0">
              <a:pos x="connsiteX20" y="connsiteY20"/>
            </a:cxn>
            <a:cxn ang="0">
              <a:pos x="connsiteX21" y="connsiteY21"/>
            </a:cxn>
            <a:cxn ang="0">
              <a:pos x="connsiteX22" y="connsiteY22"/>
            </a:cxn>
            <a:cxn ang="0">
              <a:pos x="connsiteX23" y="connsiteY23"/>
            </a:cxn>
            <a:cxn ang="0">
              <a:pos x="connsiteX24" y="connsiteY24"/>
            </a:cxn>
            <a:cxn ang="0">
              <a:pos x="connsiteX25" y="connsiteY25"/>
            </a:cxn>
            <a:cxn ang="0">
              <a:pos x="connsiteX26" y="connsiteY26"/>
            </a:cxn>
          </a:cxnLst>
          <a:rect l="l" t="t" r="r" b="b"/>
          <a:pathLst>
            <a:path w="2847975" h="1225550">
              <a:moveTo>
                <a:pt x="0" y="0"/>
              </a:moveTo>
              <a:lnTo>
                <a:pt x="34925" y="82550"/>
              </a:lnTo>
              <a:lnTo>
                <a:pt x="60325" y="165100"/>
              </a:lnTo>
              <a:lnTo>
                <a:pt x="107950" y="250825"/>
              </a:lnTo>
              <a:lnTo>
                <a:pt x="149225" y="311150"/>
              </a:lnTo>
              <a:lnTo>
                <a:pt x="203200" y="377825"/>
              </a:lnTo>
              <a:lnTo>
                <a:pt x="215900" y="419100"/>
              </a:lnTo>
              <a:lnTo>
                <a:pt x="273050" y="501650"/>
              </a:lnTo>
              <a:lnTo>
                <a:pt x="307975" y="574675"/>
              </a:lnTo>
              <a:lnTo>
                <a:pt x="365125" y="666750"/>
              </a:lnTo>
              <a:lnTo>
                <a:pt x="441325" y="708025"/>
              </a:lnTo>
              <a:lnTo>
                <a:pt x="501650" y="762000"/>
              </a:lnTo>
              <a:lnTo>
                <a:pt x="555625" y="793750"/>
              </a:lnTo>
              <a:lnTo>
                <a:pt x="600075" y="847725"/>
              </a:lnTo>
              <a:lnTo>
                <a:pt x="692150" y="898525"/>
              </a:lnTo>
              <a:lnTo>
                <a:pt x="758825" y="936625"/>
              </a:lnTo>
              <a:lnTo>
                <a:pt x="898525" y="1000125"/>
              </a:lnTo>
              <a:lnTo>
                <a:pt x="981075" y="1044575"/>
              </a:lnTo>
              <a:lnTo>
                <a:pt x="1082675" y="1092200"/>
              </a:lnTo>
              <a:lnTo>
                <a:pt x="1235075" y="1133475"/>
              </a:lnTo>
              <a:lnTo>
                <a:pt x="1349375" y="1149350"/>
              </a:lnTo>
              <a:lnTo>
                <a:pt x="1625600" y="1162050"/>
              </a:lnTo>
              <a:lnTo>
                <a:pt x="1873250" y="1184275"/>
              </a:lnTo>
              <a:lnTo>
                <a:pt x="2184400" y="1190625"/>
              </a:lnTo>
              <a:lnTo>
                <a:pt x="2441575" y="1216025"/>
              </a:lnTo>
              <a:lnTo>
                <a:pt x="2771775" y="1219200"/>
              </a:lnTo>
              <a:lnTo>
                <a:pt x="2847975" y="1225550"/>
              </a:lnTo>
            </a:path>
          </a:pathLst>
        </a:custGeom>
        <a:noFill xmlns:a="http://schemas.openxmlformats.org/drawingml/2006/main"/>
        <a:ln xmlns:a="http://schemas.openxmlformats.org/drawingml/2006/main" w="28575"/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vertOverflow="clip" rtlCol="0" anchor="ctr">
          <a:spAutoFit/>
        </a:bodyPr>
        <a:lstStyle xmlns:a="http://schemas.openxmlformats.org/drawingml/2006/main"/>
        <a:p xmlns:a="http://schemas.openxmlformats.org/drawingml/2006/main">
          <a:endParaRPr lang="en-US"/>
        </a:p>
      </cdr:txBody>
    </cdr:sp>
  </cdr:relSizeAnchor>
  <cdr:relSizeAnchor xmlns:cdr="http://schemas.openxmlformats.org/drawingml/2006/chartDrawing">
    <cdr:from>
      <cdr:x>0.09859</cdr:x>
      <cdr:y>0.11321</cdr:y>
    </cdr:from>
    <cdr:to>
      <cdr:x>0.93615</cdr:x>
      <cdr:y>0.5601</cdr:y>
    </cdr:to>
    <cdr:sp macro="" textlink="">
      <cdr:nvSpPr>
        <cdr:cNvPr id="4" name="Freeform 3"/>
        <cdr:cNvSpPr/>
      </cdr:nvSpPr>
      <cdr:spPr>
        <a:xfrm xmlns:a="http://schemas.openxmlformats.org/drawingml/2006/main">
          <a:off x="333375" y="254794"/>
          <a:ext cx="2832100" cy="1005840"/>
        </a:xfrm>
        <a:custGeom xmlns:a="http://schemas.openxmlformats.org/drawingml/2006/main">
          <a:avLst/>
          <a:gdLst>
            <a:gd name="connsiteX0" fmla="*/ 0 w 2781300"/>
            <a:gd name="connsiteY0" fmla="*/ 0 h 863600"/>
            <a:gd name="connsiteX1" fmla="*/ 63500 w 2781300"/>
            <a:gd name="connsiteY1" fmla="*/ 66675 h 863600"/>
            <a:gd name="connsiteX2" fmla="*/ 104775 w 2781300"/>
            <a:gd name="connsiteY2" fmla="*/ 111125 h 863600"/>
            <a:gd name="connsiteX3" fmla="*/ 142875 w 2781300"/>
            <a:gd name="connsiteY3" fmla="*/ 196850 h 863600"/>
            <a:gd name="connsiteX4" fmla="*/ 206375 w 2781300"/>
            <a:gd name="connsiteY4" fmla="*/ 225425 h 863600"/>
            <a:gd name="connsiteX5" fmla="*/ 282575 w 2781300"/>
            <a:gd name="connsiteY5" fmla="*/ 342900 h 863600"/>
            <a:gd name="connsiteX6" fmla="*/ 339725 w 2781300"/>
            <a:gd name="connsiteY6" fmla="*/ 431800 h 863600"/>
            <a:gd name="connsiteX7" fmla="*/ 409575 w 2781300"/>
            <a:gd name="connsiteY7" fmla="*/ 457200 h 863600"/>
            <a:gd name="connsiteX8" fmla="*/ 460375 w 2781300"/>
            <a:gd name="connsiteY8" fmla="*/ 571500 h 863600"/>
            <a:gd name="connsiteX9" fmla="*/ 542925 w 2781300"/>
            <a:gd name="connsiteY9" fmla="*/ 650875 h 863600"/>
            <a:gd name="connsiteX10" fmla="*/ 644525 w 2781300"/>
            <a:gd name="connsiteY10" fmla="*/ 727075 h 863600"/>
            <a:gd name="connsiteX11" fmla="*/ 809625 w 2781300"/>
            <a:gd name="connsiteY11" fmla="*/ 727075 h 863600"/>
            <a:gd name="connsiteX12" fmla="*/ 863600 w 2781300"/>
            <a:gd name="connsiteY12" fmla="*/ 762000 h 863600"/>
            <a:gd name="connsiteX13" fmla="*/ 1022350 w 2781300"/>
            <a:gd name="connsiteY13" fmla="*/ 815975 h 863600"/>
            <a:gd name="connsiteX14" fmla="*/ 1149350 w 2781300"/>
            <a:gd name="connsiteY14" fmla="*/ 860425 h 863600"/>
            <a:gd name="connsiteX15" fmla="*/ 1371600 w 2781300"/>
            <a:gd name="connsiteY15" fmla="*/ 863600 h 863600"/>
            <a:gd name="connsiteX16" fmla="*/ 1428750 w 2781300"/>
            <a:gd name="connsiteY16" fmla="*/ 825500 h 863600"/>
            <a:gd name="connsiteX17" fmla="*/ 1609725 w 2781300"/>
            <a:gd name="connsiteY17" fmla="*/ 812800 h 863600"/>
            <a:gd name="connsiteX18" fmla="*/ 1717675 w 2781300"/>
            <a:gd name="connsiteY18" fmla="*/ 739775 h 863600"/>
            <a:gd name="connsiteX19" fmla="*/ 1847850 w 2781300"/>
            <a:gd name="connsiteY19" fmla="*/ 682625 h 863600"/>
            <a:gd name="connsiteX20" fmla="*/ 1924050 w 2781300"/>
            <a:gd name="connsiteY20" fmla="*/ 657225 h 863600"/>
            <a:gd name="connsiteX21" fmla="*/ 2041525 w 2781300"/>
            <a:gd name="connsiteY21" fmla="*/ 625475 h 863600"/>
            <a:gd name="connsiteX22" fmla="*/ 2111375 w 2781300"/>
            <a:gd name="connsiteY22" fmla="*/ 546100 h 863600"/>
            <a:gd name="connsiteX23" fmla="*/ 2200275 w 2781300"/>
            <a:gd name="connsiteY23" fmla="*/ 479425 h 863600"/>
            <a:gd name="connsiteX24" fmla="*/ 2244725 w 2781300"/>
            <a:gd name="connsiteY24" fmla="*/ 431800 h 863600"/>
            <a:gd name="connsiteX25" fmla="*/ 2359025 w 2781300"/>
            <a:gd name="connsiteY25" fmla="*/ 384175 h 863600"/>
            <a:gd name="connsiteX26" fmla="*/ 2524125 w 2781300"/>
            <a:gd name="connsiteY26" fmla="*/ 358775 h 863600"/>
            <a:gd name="connsiteX27" fmla="*/ 2679700 w 2781300"/>
            <a:gd name="connsiteY27" fmla="*/ 314325 h 863600"/>
            <a:gd name="connsiteX28" fmla="*/ 2781300 w 2781300"/>
            <a:gd name="connsiteY28" fmla="*/ 292100 h 863600"/>
          </a:gdLst>
          <a:ahLst/>
          <a:cxnLst>
            <a:cxn ang="0">
              <a:pos x="connsiteX0" y="connsiteY0"/>
            </a:cxn>
            <a:cxn ang="0">
              <a:pos x="connsiteX1" y="connsiteY1"/>
            </a:cxn>
            <a:cxn ang="0">
              <a:pos x="connsiteX2" y="connsiteY2"/>
            </a:cxn>
            <a:cxn ang="0">
              <a:pos x="connsiteX3" y="connsiteY3"/>
            </a:cxn>
            <a:cxn ang="0">
              <a:pos x="connsiteX4" y="connsiteY4"/>
            </a:cxn>
            <a:cxn ang="0">
              <a:pos x="connsiteX5" y="connsiteY5"/>
            </a:cxn>
            <a:cxn ang="0">
              <a:pos x="connsiteX6" y="connsiteY6"/>
            </a:cxn>
            <a:cxn ang="0">
              <a:pos x="connsiteX7" y="connsiteY7"/>
            </a:cxn>
            <a:cxn ang="0">
              <a:pos x="connsiteX8" y="connsiteY8"/>
            </a:cxn>
            <a:cxn ang="0">
              <a:pos x="connsiteX9" y="connsiteY9"/>
            </a:cxn>
            <a:cxn ang="0">
              <a:pos x="connsiteX10" y="connsiteY10"/>
            </a:cxn>
            <a:cxn ang="0">
              <a:pos x="connsiteX11" y="connsiteY11"/>
            </a:cxn>
            <a:cxn ang="0">
              <a:pos x="connsiteX12" y="connsiteY12"/>
            </a:cxn>
            <a:cxn ang="0">
              <a:pos x="connsiteX13" y="connsiteY13"/>
            </a:cxn>
            <a:cxn ang="0">
              <a:pos x="connsiteX14" y="connsiteY14"/>
            </a:cxn>
            <a:cxn ang="0">
              <a:pos x="connsiteX15" y="connsiteY15"/>
            </a:cxn>
            <a:cxn ang="0">
              <a:pos x="connsiteX16" y="connsiteY16"/>
            </a:cxn>
            <a:cxn ang="0">
              <a:pos x="connsiteX17" y="connsiteY17"/>
            </a:cxn>
            <a:cxn ang="0">
              <a:pos x="connsiteX18" y="connsiteY18"/>
            </a:cxn>
            <a:cxn ang="0">
              <a:pos x="connsiteX19" y="connsiteY19"/>
            </a:cxn>
            <a:cxn ang="0">
              <a:pos x="connsiteX20" y="connsiteY20"/>
            </a:cxn>
            <a:cxn ang="0">
              <a:pos x="connsiteX21" y="connsiteY21"/>
            </a:cxn>
            <a:cxn ang="0">
              <a:pos x="connsiteX22" y="connsiteY22"/>
            </a:cxn>
            <a:cxn ang="0">
              <a:pos x="connsiteX23" y="connsiteY23"/>
            </a:cxn>
            <a:cxn ang="0">
              <a:pos x="connsiteX24" y="connsiteY24"/>
            </a:cxn>
            <a:cxn ang="0">
              <a:pos x="connsiteX25" y="connsiteY25"/>
            </a:cxn>
            <a:cxn ang="0">
              <a:pos x="connsiteX26" y="connsiteY26"/>
            </a:cxn>
            <a:cxn ang="0">
              <a:pos x="connsiteX27" y="connsiteY27"/>
            </a:cxn>
            <a:cxn ang="0">
              <a:pos x="connsiteX28" y="connsiteY28"/>
            </a:cxn>
          </a:cxnLst>
          <a:rect l="l" t="t" r="r" b="b"/>
          <a:pathLst>
            <a:path w="2781300" h="863600">
              <a:moveTo>
                <a:pt x="0" y="0"/>
              </a:moveTo>
              <a:lnTo>
                <a:pt x="63500" y="66675"/>
              </a:lnTo>
              <a:lnTo>
                <a:pt x="104775" y="111125"/>
              </a:lnTo>
              <a:lnTo>
                <a:pt x="142875" y="196850"/>
              </a:lnTo>
              <a:lnTo>
                <a:pt x="206375" y="225425"/>
              </a:lnTo>
              <a:lnTo>
                <a:pt x="282575" y="342900"/>
              </a:lnTo>
              <a:lnTo>
                <a:pt x="339725" y="431800"/>
              </a:lnTo>
              <a:lnTo>
                <a:pt x="409575" y="457200"/>
              </a:lnTo>
              <a:lnTo>
                <a:pt x="460375" y="571500"/>
              </a:lnTo>
              <a:lnTo>
                <a:pt x="542925" y="650875"/>
              </a:lnTo>
              <a:lnTo>
                <a:pt x="644525" y="727075"/>
              </a:lnTo>
              <a:lnTo>
                <a:pt x="809625" y="727075"/>
              </a:lnTo>
              <a:lnTo>
                <a:pt x="863600" y="762000"/>
              </a:lnTo>
              <a:lnTo>
                <a:pt x="1022350" y="815975"/>
              </a:lnTo>
              <a:lnTo>
                <a:pt x="1149350" y="860425"/>
              </a:lnTo>
              <a:lnTo>
                <a:pt x="1371600" y="863600"/>
              </a:lnTo>
              <a:lnTo>
                <a:pt x="1428750" y="825500"/>
              </a:lnTo>
              <a:lnTo>
                <a:pt x="1609725" y="812800"/>
              </a:lnTo>
              <a:lnTo>
                <a:pt x="1717675" y="739775"/>
              </a:lnTo>
              <a:lnTo>
                <a:pt x="1847850" y="682625"/>
              </a:lnTo>
              <a:lnTo>
                <a:pt x="1924050" y="657225"/>
              </a:lnTo>
              <a:lnTo>
                <a:pt x="2041525" y="625475"/>
              </a:lnTo>
              <a:lnTo>
                <a:pt x="2111375" y="546100"/>
              </a:lnTo>
              <a:lnTo>
                <a:pt x="2200275" y="479425"/>
              </a:lnTo>
              <a:lnTo>
                <a:pt x="2244725" y="431800"/>
              </a:lnTo>
              <a:lnTo>
                <a:pt x="2359025" y="384175"/>
              </a:lnTo>
              <a:lnTo>
                <a:pt x="2524125" y="358775"/>
              </a:lnTo>
              <a:lnTo>
                <a:pt x="2679700" y="314325"/>
              </a:lnTo>
              <a:lnTo>
                <a:pt x="2781300" y="292100"/>
              </a:lnTo>
            </a:path>
          </a:pathLst>
        </a:custGeom>
        <a:noFill xmlns:a="http://schemas.openxmlformats.org/drawingml/2006/main"/>
        <a:ln xmlns:a="http://schemas.openxmlformats.org/drawingml/2006/main" w="28575">
          <a:solidFill>
            <a:srgbClr val="FF0000"/>
          </a:solidFill>
        </a:ln>
      </cdr:spPr>
      <cdr:style>
        <a:lnRef xmlns:a="http://schemas.openxmlformats.org/drawingml/2006/main" idx="2">
          <a:schemeClr val="dk1"/>
        </a:lnRef>
        <a:fillRef xmlns:a="http://schemas.openxmlformats.org/drawingml/2006/main" idx="1">
          <a:schemeClr val="lt1"/>
        </a:fillRef>
        <a:effectRef xmlns:a="http://schemas.openxmlformats.org/drawingml/2006/main" idx="0">
          <a:schemeClr val="dk1"/>
        </a:effectRef>
        <a:fontRef xmlns:a="http://schemas.openxmlformats.org/drawingml/2006/main" idx="minor">
          <a:schemeClr val="dk1"/>
        </a:fontRef>
      </cdr:style>
      <cdr:txBody>
        <a:bodyPr xmlns:a="http://schemas.openxmlformats.org/drawingml/2006/main" vertOverflow="clip" wrap="square" rtlCol="0" anchor="ctr">
          <a:spAutoFit/>
        </a:bodyPr>
        <a:lstStyle xmlns:a="http://schemas.openxmlformats.org/drawingml/2006/main"/>
        <a:p xmlns:a="http://schemas.openxmlformats.org/drawingml/2006/main">
          <a:endParaRPr lang="en-US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B8742D3-6FBB-4C55-9D78-468E87114176}" type="datetimeFigureOut">
              <a:rPr lang="en-US"/>
              <a:pPr>
                <a:defRPr/>
              </a:pPr>
              <a:t>3/31/2020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B05FBF6B-6A5C-4AF0-95C7-091FCECE3EE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966323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B9EEB2-BD37-4AEC-A11A-4A32E214D1D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4328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3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479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291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066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291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034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328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471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607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524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5385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W crest transparent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92360" y="340043"/>
            <a:ext cx="1691640" cy="26689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2552" y="818881"/>
            <a:ext cx="9429482" cy="1821287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1117600" y="4419600"/>
            <a:ext cx="10464800" cy="990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1"/>
          </p:nvPr>
        </p:nvSpPr>
        <p:spPr>
          <a:xfrm>
            <a:off x="1320800" y="5638800"/>
            <a:ext cx="9855200" cy="76200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rgbClr val="C00000"/>
                </a:solidFill>
              </a:defRPr>
            </a:lvl1pPr>
            <a:lvl3pPr marL="914400" indent="0" algn="ctr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936059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48283" y="65395"/>
            <a:ext cx="12071288" cy="602821"/>
          </a:xfrm>
          <a:prstGeom prst="roundRect">
            <a:avLst>
              <a:gd name="adj" fmla="val 27057"/>
            </a:avLst>
          </a:prstGeom>
          <a:gradFill flip="none" rotWithShape="1">
            <a:gsLst>
              <a:gs pos="0">
                <a:schemeClr val="tx1">
                  <a:lumMod val="50000"/>
                  <a:lumOff val="50000"/>
                  <a:alpha val="50000"/>
                </a:schemeClr>
              </a:gs>
              <a:gs pos="54000">
                <a:srgbClr val="800000"/>
              </a:gs>
              <a:gs pos="96000">
                <a:srgbClr val="7F3838"/>
              </a:gs>
              <a:gs pos="100000">
                <a:srgbClr val="7F6060"/>
              </a:gs>
              <a:gs pos="5000">
                <a:srgbClr val="7F4848">
                  <a:lumMod val="99000"/>
                  <a:lumOff val="1000"/>
                </a:srgbClr>
              </a:gs>
              <a:gs pos="100000">
                <a:schemeClr val="tx1">
                  <a:lumMod val="50000"/>
                  <a:lumOff val="50000"/>
                  <a:alpha val="50000"/>
                </a:schemeClr>
              </a:gs>
            </a:gsLst>
            <a:lin ang="5400000" scaled="0"/>
            <a:tileRect/>
          </a:gra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800" b="1" dirty="0">
              <a:solidFill>
                <a:srgbClr val="FFFFFF"/>
              </a:solidFill>
              <a:cs typeface="Calibri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704422"/>
            <a:ext cx="11277600" cy="5942442"/>
          </a:xfrm>
        </p:spPr>
        <p:txBody>
          <a:bodyPr/>
          <a:lstStyle>
            <a:lvl2pPr marL="685800" indent="-228600">
              <a:buFont typeface="Calibri" panose="020F0502020204030204" pitchFamily="34" charset="0"/>
              <a:buChar char="―"/>
              <a:defRPr>
                <a:solidFill>
                  <a:srgbClr val="640000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609601" y="101601"/>
            <a:ext cx="11368617" cy="505069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651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704422"/>
            <a:ext cx="5561744" cy="5942442"/>
          </a:xfrm>
        </p:spPr>
        <p:txBody>
          <a:bodyPr/>
          <a:lstStyle>
            <a:lvl2pPr marL="685800" indent="-228600">
              <a:buFont typeface="Calibri" panose="020F0502020204030204" pitchFamily="34" charset="0"/>
              <a:buChar char="―"/>
              <a:defRPr>
                <a:solidFill>
                  <a:srgbClr val="640000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0"/>
          </p:nvPr>
        </p:nvSpPr>
        <p:spPr>
          <a:xfrm>
            <a:off x="6087439" y="704422"/>
            <a:ext cx="5561744" cy="5942442"/>
          </a:xfrm>
        </p:spPr>
        <p:txBody>
          <a:bodyPr/>
          <a:lstStyle>
            <a:lvl2pPr marL="685800" indent="-228600">
              <a:buFont typeface="Calibri" panose="020F0502020204030204" pitchFamily="34" charset="0"/>
              <a:buChar char="―"/>
              <a:defRPr>
                <a:solidFill>
                  <a:srgbClr val="640000"/>
                </a:solidFill>
              </a:defRPr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705965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48283" y="65394"/>
            <a:ext cx="12071288" cy="912380"/>
          </a:xfrm>
          <a:prstGeom prst="roundRect">
            <a:avLst>
              <a:gd name="adj" fmla="val 27057"/>
            </a:avLst>
          </a:prstGeom>
          <a:gradFill flip="none" rotWithShape="1">
            <a:gsLst>
              <a:gs pos="0">
                <a:schemeClr val="tx1">
                  <a:lumMod val="50000"/>
                  <a:lumOff val="50000"/>
                  <a:alpha val="50000"/>
                </a:schemeClr>
              </a:gs>
              <a:gs pos="54000">
                <a:srgbClr val="800000"/>
              </a:gs>
              <a:gs pos="96000">
                <a:srgbClr val="7F3838"/>
              </a:gs>
              <a:gs pos="100000">
                <a:srgbClr val="7F6060"/>
              </a:gs>
              <a:gs pos="5000">
                <a:srgbClr val="7F4848">
                  <a:lumMod val="99000"/>
                  <a:lumOff val="1000"/>
                </a:srgbClr>
              </a:gs>
              <a:gs pos="100000">
                <a:schemeClr val="tx1">
                  <a:lumMod val="50000"/>
                  <a:lumOff val="50000"/>
                  <a:alpha val="50000"/>
                </a:schemeClr>
              </a:gs>
            </a:gsLst>
            <a:lin ang="5400000" scaled="0"/>
            <a:tileRect/>
          </a:gra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endParaRPr lang="en-US" sz="800" b="1" dirty="0">
              <a:solidFill>
                <a:srgbClr val="FFFFFF"/>
              </a:solidFill>
              <a:cs typeface="Calibri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609601" y="101600"/>
            <a:ext cx="11368617" cy="820738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24021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48283" y="65394"/>
            <a:ext cx="12071288" cy="912380"/>
          </a:xfrm>
          <a:prstGeom prst="roundRect">
            <a:avLst>
              <a:gd name="adj" fmla="val 27057"/>
            </a:avLst>
          </a:prstGeom>
          <a:gradFill flip="none" rotWithShape="1">
            <a:gsLst>
              <a:gs pos="0">
                <a:schemeClr val="tx1">
                  <a:lumMod val="50000"/>
                  <a:lumOff val="50000"/>
                  <a:alpha val="50000"/>
                </a:schemeClr>
              </a:gs>
              <a:gs pos="54000">
                <a:srgbClr val="800000"/>
              </a:gs>
              <a:gs pos="96000">
                <a:srgbClr val="7F3838"/>
              </a:gs>
              <a:gs pos="100000">
                <a:srgbClr val="7F6060"/>
              </a:gs>
              <a:gs pos="5000">
                <a:srgbClr val="7F4848">
                  <a:lumMod val="99000"/>
                  <a:lumOff val="1000"/>
                </a:srgbClr>
              </a:gs>
              <a:gs pos="100000">
                <a:schemeClr val="tx1">
                  <a:lumMod val="50000"/>
                  <a:lumOff val="50000"/>
                  <a:alpha val="50000"/>
                </a:schemeClr>
              </a:gs>
            </a:gsLst>
            <a:lin ang="5400000" scaled="0"/>
            <a:tileRect/>
          </a:gra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endParaRPr lang="en-US" sz="800" b="1" dirty="0">
              <a:solidFill>
                <a:srgbClr val="FFFFFF"/>
              </a:solidFill>
              <a:cs typeface="Calibri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609601" y="101600"/>
            <a:ext cx="11368617" cy="820738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178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48283" y="65394"/>
            <a:ext cx="12071288" cy="912380"/>
          </a:xfrm>
          <a:prstGeom prst="roundRect">
            <a:avLst>
              <a:gd name="adj" fmla="val 27057"/>
            </a:avLst>
          </a:prstGeom>
          <a:gradFill flip="none" rotWithShape="1">
            <a:gsLst>
              <a:gs pos="0">
                <a:schemeClr val="tx1">
                  <a:lumMod val="50000"/>
                  <a:lumOff val="50000"/>
                  <a:alpha val="50000"/>
                </a:schemeClr>
              </a:gs>
              <a:gs pos="54000">
                <a:srgbClr val="800000"/>
              </a:gs>
              <a:gs pos="96000">
                <a:srgbClr val="7F3838"/>
              </a:gs>
              <a:gs pos="100000">
                <a:srgbClr val="7F6060"/>
              </a:gs>
              <a:gs pos="5000">
                <a:srgbClr val="7F4848">
                  <a:lumMod val="99000"/>
                  <a:lumOff val="1000"/>
                </a:srgbClr>
              </a:gs>
              <a:gs pos="100000">
                <a:schemeClr val="tx1">
                  <a:lumMod val="50000"/>
                  <a:lumOff val="50000"/>
                  <a:alpha val="50000"/>
                </a:schemeClr>
              </a:gs>
            </a:gsLst>
            <a:lin ang="5400000" scaled="0"/>
            <a:tileRect/>
          </a:gra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defRPr/>
            </a:pPr>
            <a:endParaRPr lang="en-US" sz="800" b="1" dirty="0">
              <a:solidFill>
                <a:srgbClr val="FFFFFF"/>
              </a:solidFill>
              <a:cs typeface="Calibri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609601" y="101600"/>
            <a:ext cx="11368617" cy="820738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2734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48283" y="65394"/>
            <a:ext cx="12071288" cy="912380"/>
          </a:xfrm>
          <a:prstGeom prst="roundRect">
            <a:avLst>
              <a:gd name="adj" fmla="val 27057"/>
            </a:avLst>
          </a:prstGeom>
          <a:gradFill flip="none" rotWithShape="1">
            <a:gsLst>
              <a:gs pos="0">
                <a:schemeClr val="tx1">
                  <a:lumMod val="50000"/>
                  <a:lumOff val="50000"/>
                  <a:alpha val="50000"/>
                </a:schemeClr>
              </a:gs>
              <a:gs pos="54000">
                <a:srgbClr val="800000"/>
              </a:gs>
              <a:gs pos="96000">
                <a:srgbClr val="7F3838"/>
              </a:gs>
              <a:gs pos="100000">
                <a:srgbClr val="7F6060"/>
              </a:gs>
              <a:gs pos="5000">
                <a:srgbClr val="7F4848">
                  <a:lumMod val="99000"/>
                  <a:lumOff val="1000"/>
                </a:srgbClr>
              </a:gs>
              <a:gs pos="100000">
                <a:schemeClr val="tx1">
                  <a:lumMod val="50000"/>
                  <a:lumOff val="50000"/>
                  <a:alpha val="50000"/>
                </a:schemeClr>
              </a:gs>
            </a:gsLst>
            <a:lin ang="5400000" scaled="0"/>
            <a:tileRect/>
          </a:gradFill>
          <a:ln>
            <a:noFill/>
          </a:ln>
          <a:effectLst>
            <a:softEdge rad="381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800" b="1" dirty="0">
              <a:solidFill>
                <a:srgbClr val="FFFFFF"/>
              </a:solidFill>
              <a:cs typeface="Calibri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609601" y="101600"/>
            <a:ext cx="11368617" cy="820738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2466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508000" y="1"/>
            <a:ext cx="1930400" cy="6856413"/>
          </a:xfrm>
          <a:prstGeom prst="rect">
            <a:avLst/>
          </a:prstGeom>
          <a:gradFill rotWithShape="0">
            <a:gsLst>
              <a:gs pos="0">
                <a:schemeClr val="bg1">
                  <a:gamma/>
                  <a:shade val="61961"/>
                  <a:invGamma/>
                </a:schemeClr>
              </a:gs>
              <a:gs pos="50000">
                <a:schemeClr val="bg1">
                  <a:alpha val="50000"/>
                </a:schemeClr>
              </a:gs>
              <a:gs pos="100000">
                <a:schemeClr val="bg1">
                  <a:gamma/>
                  <a:shade val="61961"/>
                  <a:invGamma/>
                </a:schemeClr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kumimoji="1" lang="en-US">
              <a:solidFill>
                <a:srgbClr val="FFFFFF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141247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67998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63085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16000" y="1600200"/>
            <a:ext cx="5486400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05600" y="1600200"/>
            <a:ext cx="5486400" cy="4953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34808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717147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452064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68184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8390446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8920538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381238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44000" y="0"/>
            <a:ext cx="3048000" cy="6553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0" y="0"/>
            <a:ext cx="8940800" cy="6553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6094034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sz="quarter"/>
          </p:nvPr>
        </p:nvSpPr>
        <p:spPr>
          <a:xfrm>
            <a:off x="0" y="0"/>
            <a:ext cx="12192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1016000" y="1600200"/>
            <a:ext cx="54864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705600" y="1600200"/>
            <a:ext cx="54864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1016000" y="4152900"/>
            <a:ext cx="54864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705600" y="4152900"/>
            <a:ext cx="54864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372224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16000" y="1600200"/>
            <a:ext cx="11176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000" y="4152900"/>
            <a:ext cx="111760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370514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16000" y="1600200"/>
            <a:ext cx="54864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705600" y="1600200"/>
            <a:ext cx="54864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705600" y="4152900"/>
            <a:ext cx="5486400" cy="2400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242853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Title, Text and Media Cli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016000" y="1600200"/>
            <a:ext cx="5486400" cy="4953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Media Placeholder 3"/>
          <p:cNvSpPr>
            <a:spLocks noGrp="1"/>
          </p:cNvSpPr>
          <p:nvPr>
            <p:ph type="media" sz="half" idx="2"/>
          </p:nvPr>
        </p:nvSpPr>
        <p:spPr>
          <a:xfrm>
            <a:off x="6705600" y="1600200"/>
            <a:ext cx="5486400" cy="4953000"/>
          </a:xfrm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7700986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 descr="uzh_eth_logo_e_pos_sap_standard+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392" y="404664"/>
            <a:ext cx="5209600" cy="6480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Line 16"/>
          <p:cNvSpPr>
            <a:spLocks noChangeShapeType="1"/>
          </p:cNvSpPr>
          <p:nvPr userDrawn="1"/>
        </p:nvSpPr>
        <p:spPr bwMode="auto">
          <a:xfrm>
            <a:off x="2914651" y="6678657"/>
            <a:ext cx="0" cy="176212"/>
          </a:xfrm>
          <a:prstGeom prst="line">
            <a:avLst/>
          </a:prstGeom>
          <a:noFill/>
          <a:ln w="6350">
            <a:solidFill>
              <a:schemeClr val="bg1"/>
            </a:solidFill>
            <a:round/>
            <a:headEnd/>
            <a:tailEnd/>
          </a:ln>
        </p:spPr>
        <p:txBody>
          <a:bodyPr/>
          <a:lstStyle/>
          <a:p>
            <a:pPr>
              <a:lnSpc>
                <a:spcPts val="2400"/>
              </a:lnSpc>
              <a:spcBef>
                <a:spcPts val="600"/>
              </a:spcBef>
              <a:buClr>
                <a:srgbClr val="2A6AB3"/>
              </a:buClr>
              <a:buSzPct val="110000"/>
              <a:buFont typeface="Wingdings" pitchFamily="16" charset="2"/>
              <a:buNone/>
              <a:defRPr/>
            </a:pPr>
            <a:endParaRPr lang="de-CH">
              <a:solidFill>
                <a:srgbClr val="000000"/>
              </a:solidFill>
              <a:latin typeface="Arial" charset="0"/>
            </a:endParaRPr>
          </a:p>
        </p:txBody>
      </p:sp>
      <p:sp>
        <p:nvSpPr>
          <p:cNvPr id="11" name="Line 16"/>
          <p:cNvSpPr>
            <a:spLocks noChangeShapeType="1"/>
          </p:cNvSpPr>
          <p:nvPr userDrawn="1"/>
        </p:nvSpPr>
        <p:spPr bwMode="auto">
          <a:xfrm>
            <a:off x="9455151" y="6678657"/>
            <a:ext cx="0" cy="176212"/>
          </a:xfrm>
          <a:prstGeom prst="line">
            <a:avLst/>
          </a:prstGeom>
          <a:noFill/>
          <a:ln w="6350">
            <a:solidFill>
              <a:schemeClr val="bg1"/>
            </a:solidFill>
            <a:round/>
            <a:headEnd/>
            <a:tailEnd/>
          </a:ln>
        </p:spPr>
        <p:txBody>
          <a:bodyPr/>
          <a:lstStyle/>
          <a:p>
            <a:pPr>
              <a:lnSpc>
                <a:spcPts val="2400"/>
              </a:lnSpc>
              <a:spcBef>
                <a:spcPts val="600"/>
              </a:spcBef>
              <a:buClr>
                <a:srgbClr val="2A6AB3"/>
              </a:buClr>
              <a:buSzPct val="110000"/>
              <a:buFont typeface="Wingdings" pitchFamily="16" charset="2"/>
              <a:buNone/>
              <a:defRPr/>
            </a:pPr>
            <a:endParaRPr lang="de-CH">
              <a:solidFill>
                <a:srgbClr val="000000"/>
              </a:solidFill>
              <a:latin typeface="Arial" charset="0"/>
            </a:endParaRP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08000" y="1232917"/>
            <a:ext cx="11176000" cy="946150"/>
          </a:xfrm>
          <a:effectLst/>
        </p:spPr>
        <p:txBody>
          <a:bodyPr anchor="ctr" anchorCtr="0"/>
          <a:lstStyle>
            <a:lvl1pPr>
              <a:defRPr sz="3200" smtClean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14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08000" y="2213992"/>
            <a:ext cx="11176000" cy="1143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Font typeface="Wingdings" pitchFamily="2" charset="2"/>
              <a:buNone/>
              <a:defRPr sz="1600" smtClean="0">
                <a:solidFill>
                  <a:srgbClr val="404040"/>
                </a:solidFill>
                <a:latin typeface="Calibri" pitchFamily="34" charset="0"/>
              </a:defRPr>
            </a:lvl1pPr>
          </a:lstStyle>
          <a:p>
            <a:r>
              <a:rPr lang="en-US" dirty="0"/>
              <a:t>Click to edit Master subtitle style</a:t>
            </a:r>
            <a:endParaRPr lang="de-DE" dirty="0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>
            <a:grayscl/>
          </a:blip>
          <a:stretch>
            <a:fillRect/>
          </a:stretch>
        </p:blipFill>
        <p:spPr>
          <a:xfrm>
            <a:off x="-10584" y="3571205"/>
            <a:ext cx="12216000" cy="3296122"/>
          </a:xfrm>
          <a:prstGeom prst="rect">
            <a:avLst/>
          </a:prstGeom>
        </p:spPr>
      </p:pic>
      <p:pic>
        <p:nvPicPr>
          <p:cNvPr id="8" name="Picture 33" descr="KCL_noUoL_A4_40mm_PowerPoint_blue"/>
          <p:cNvPicPr>
            <a:picLocks noChangeAspect="1" noChangeArrowheads="1"/>
          </p:cNvPicPr>
          <p:nvPr userDrawn="1"/>
        </p:nvPicPr>
        <p:blipFill>
          <a:blip r:embed="rId4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0256" y="404665"/>
            <a:ext cx="1152288" cy="576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673014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>
            <a:lvl1pPr>
              <a:defRPr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Calibri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None/>
              <a:defRPr>
                <a:latin typeface="Calibri" pitchFamily="34" charset="0"/>
              </a:defRPr>
            </a:lvl1pPr>
            <a:lvl2pPr>
              <a:buNone/>
              <a:defRPr>
                <a:latin typeface="Calibri" pitchFamily="34" charset="0"/>
              </a:defRPr>
            </a:lvl2pPr>
            <a:lvl3pPr>
              <a:buNone/>
              <a:defRPr>
                <a:latin typeface="Calibri" pitchFamily="34" charset="0"/>
              </a:defRPr>
            </a:lvl3pPr>
            <a:lvl4pPr>
              <a:buNone/>
              <a:defRPr>
                <a:latin typeface="Calibri" pitchFamily="34" charset="0"/>
              </a:defRPr>
            </a:lvl4pPr>
            <a:lvl5pPr>
              <a:buNone/>
              <a:defRPr>
                <a:latin typeface="Calibri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10512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40119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0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5DF717-FD4C-4F08-8EFB-02DDA07AF76F}" type="datetimeFigureOut">
              <a:rPr lang="en-US" smtClean="0"/>
              <a:t>3/31/2020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D1671B-7197-4B64-BF05-CC6D38AC3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360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  <p:sldLayoutId id="2147483888" r:id="rId12"/>
    <p:sldLayoutId id="2147483889" r:id="rId13"/>
    <p:sldLayoutId id="2147483896" r:id="rId14"/>
    <p:sldLayoutId id="2147483913" r:id="rId15"/>
    <p:sldLayoutId id="2147483914" r:id="rId16"/>
    <p:sldLayoutId id="2147483915" r:id="rId17"/>
    <p:sldLayoutId id="214748391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bg1"/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83" name="Rectangle 19"/>
          <p:cNvSpPr>
            <a:spLocks noChangeArrowheads="1"/>
          </p:cNvSpPr>
          <p:nvPr userDrawn="1"/>
        </p:nvSpPr>
        <p:spPr bwMode="auto">
          <a:xfrm>
            <a:off x="1016001" y="228600"/>
            <a:ext cx="11173884" cy="681038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bg1">
                  <a:gamma/>
                  <a:shade val="15294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kumimoji="1" lang="en-GB">
              <a:solidFill>
                <a:srgbClr val="FFFFFF"/>
              </a:solidFill>
              <a:latin typeface="Times New Roman" pitchFamily="18" charset="0"/>
            </a:endParaRPr>
          </a:p>
        </p:txBody>
      </p:sp>
      <p:sp>
        <p:nvSpPr>
          <p:cNvPr id="62484" name="Rectangle 20"/>
          <p:cNvSpPr>
            <a:spLocks noGrp="1" noChangeArrowheads="1"/>
          </p:cNvSpPr>
          <p:nvPr>
            <p:ph type="title"/>
          </p:nvPr>
        </p:nvSpPr>
        <p:spPr bwMode="auto">
          <a:xfrm>
            <a:off x="0" y="0"/>
            <a:ext cx="121920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62485" name="Rectangle 21"/>
          <p:cNvSpPr>
            <a:spLocks noGrp="1" noChangeArrowheads="1"/>
          </p:cNvSpPr>
          <p:nvPr>
            <p:ph type="body" idx="1"/>
          </p:nvPr>
        </p:nvSpPr>
        <p:spPr bwMode="auto">
          <a:xfrm>
            <a:off x="1016000" y="1600200"/>
            <a:ext cx="11176000" cy="495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2488" name="Rectangle 24"/>
          <p:cNvSpPr>
            <a:spLocks noChangeArrowheads="1"/>
          </p:cNvSpPr>
          <p:nvPr userDrawn="1"/>
        </p:nvSpPr>
        <p:spPr bwMode="auto">
          <a:xfrm>
            <a:off x="929218" y="876301"/>
            <a:ext cx="11055349" cy="42863"/>
          </a:xfrm>
          <a:prstGeom prst="rect">
            <a:avLst/>
          </a:prstGeom>
          <a:gradFill rotWithShape="0">
            <a:gsLst>
              <a:gs pos="0">
                <a:schemeClr val="hlink">
                  <a:gamma/>
                  <a:shade val="21961"/>
                  <a:invGamma/>
                </a:schemeClr>
              </a:gs>
              <a:gs pos="50000">
                <a:schemeClr val="hlink"/>
              </a:gs>
              <a:gs pos="100000">
                <a:schemeClr val="hlink">
                  <a:gamma/>
                  <a:shade val="21961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defRPr/>
            </a:pPr>
            <a:endParaRPr lang="en-GB" sz="2000" i="1">
              <a:solidFill>
                <a:srgbClr val="CBCBCB"/>
              </a:solidFill>
              <a:latin typeface="Times New Roman" pitchFamily="18" charset="0"/>
            </a:endParaRPr>
          </a:p>
        </p:txBody>
      </p:sp>
      <p:pic>
        <p:nvPicPr>
          <p:cNvPr id="6150" name="Picture 25" descr="W crest transparent"/>
          <p:cNvPicPr>
            <a:picLocks noChangeAspect="1" noChangeArrowheads="1"/>
          </p:cNvPicPr>
          <p:nvPr userDrawn="1"/>
        </p:nvPicPr>
        <p:blipFill>
          <a:blip r:embed="rId17" cstate="print"/>
          <a:srcRect/>
          <a:stretch>
            <a:fillRect/>
          </a:stretch>
        </p:blipFill>
        <p:spPr bwMode="auto">
          <a:xfrm>
            <a:off x="11379200" y="76200"/>
            <a:ext cx="772584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600259276"/>
      </p:ext>
    </p:extLst>
  </p:cSld>
  <p:clrMap bg1="dk2" tx1="lt1" bg2="dk1" tx2="lt2" accent1="accent1" accent2="accent2" accent3="accent3" accent4="accent4" accent5="accent5" accent6="accent6" hlink="hlink" folHlink="folHlink"/>
  <p:sldLayoutIdLst>
    <p:sldLayoutId id="2147483898" r:id="rId1"/>
    <p:sldLayoutId id="2147483899" r:id="rId2"/>
    <p:sldLayoutId id="2147483900" r:id="rId3"/>
    <p:sldLayoutId id="2147483901" r:id="rId4"/>
    <p:sldLayoutId id="2147483902" r:id="rId5"/>
    <p:sldLayoutId id="2147483903" r:id="rId6"/>
    <p:sldLayoutId id="2147483904" r:id="rId7"/>
    <p:sldLayoutId id="2147483905" r:id="rId8"/>
    <p:sldLayoutId id="2147483906" r:id="rId9"/>
    <p:sldLayoutId id="2147483907" r:id="rId10"/>
    <p:sldLayoutId id="2147483908" r:id="rId11"/>
    <p:sldLayoutId id="2147483909" r:id="rId12"/>
    <p:sldLayoutId id="2147483910" r:id="rId13"/>
    <p:sldLayoutId id="2147483911" r:id="rId14"/>
    <p:sldLayoutId id="2147483912" r:id="rId15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FF66"/>
        </a:buClr>
        <a:buSzPct val="80000"/>
        <a:buFont typeface="Wingdings" pitchFamily="2" charset="2"/>
        <a:buChar char="l"/>
        <a:defRPr sz="3200">
          <a:solidFill>
            <a:srgbClr val="FFFF66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ChangeArrowheads="1"/>
          </p:cNvSpPr>
          <p:nvPr/>
        </p:nvSpPr>
        <p:spPr bwMode="auto">
          <a:xfrm>
            <a:off x="-1648" y="1"/>
            <a:ext cx="12193647" cy="548680"/>
          </a:xfrm>
          <a:prstGeom prst="rect">
            <a:avLst/>
          </a:prstGeom>
          <a:gradFill rotWithShape="0">
            <a:gsLst>
              <a:gs pos="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lIns="198000" tIns="46800" rIns="90000" bIns="46800" anchor="ctr"/>
          <a:lstStyle/>
          <a:p>
            <a:pPr>
              <a:spcBef>
                <a:spcPct val="20000"/>
              </a:spcBef>
              <a:buClr>
                <a:srgbClr val="52ADE7"/>
              </a:buClr>
              <a:buFont typeface="Wingdings" pitchFamily="2" charset="2"/>
              <a:buNone/>
              <a:defRPr/>
            </a:pPr>
            <a:endParaRPr lang="de-CH" sz="2400" i="1">
              <a:solidFill>
                <a:srgbClr val="FFFFFF"/>
              </a:solidFill>
              <a:latin typeface="Arial" charset="0"/>
            </a:endParaRPr>
          </a:p>
        </p:txBody>
      </p:sp>
      <p:sp>
        <p:nvSpPr>
          <p:cNvPr id="4099" name="Text Box 3"/>
          <p:cNvSpPr txBox="1">
            <a:spLocks noChangeArrowheads="1"/>
          </p:cNvSpPr>
          <p:nvPr/>
        </p:nvSpPr>
        <p:spPr bwMode="auto">
          <a:xfrm>
            <a:off x="711200" y="1143000"/>
            <a:ext cx="10363200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50000"/>
              </a:spcBef>
              <a:buClr>
                <a:srgbClr val="52ADE7"/>
              </a:buClr>
              <a:buFont typeface="Wingdings" pitchFamily="2" charset="2"/>
              <a:buNone/>
              <a:defRPr/>
            </a:pPr>
            <a:endParaRPr lang="de-CH" sz="3200" b="1">
              <a:solidFill>
                <a:srgbClr val="2A6AB3"/>
              </a:solidFill>
              <a:latin typeface="Arial" charset="0"/>
            </a:endParaRPr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7034" y="765175"/>
            <a:ext cx="10555817" cy="5360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CH" noProof="0"/>
              <a:t>Click to edit Master text styles</a:t>
            </a:r>
          </a:p>
          <a:p>
            <a:pPr lvl="1"/>
            <a:r>
              <a:rPr lang="de-CH" noProof="0"/>
              <a:t>Second level</a:t>
            </a:r>
          </a:p>
          <a:p>
            <a:pPr lvl="2"/>
            <a:r>
              <a:rPr lang="de-CH" noProof="0"/>
              <a:t>Third level</a:t>
            </a:r>
          </a:p>
          <a:p>
            <a:pPr lvl="3"/>
            <a:r>
              <a:rPr lang="de-CH" noProof="0"/>
              <a:t>Fourth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817034" y="44450"/>
            <a:ext cx="10555817" cy="504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CH" noProof="0"/>
              <a:t>Click to edit Master title style</a:t>
            </a: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 flipH="1">
            <a:off x="-1" y="6741368"/>
            <a:ext cx="12193647" cy="128390"/>
          </a:xfrm>
          <a:prstGeom prst="rect">
            <a:avLst/>
          </a:prstGeom>
          <a:gradFill rotWithShape="1">
            <a:gsLst>
              <a:gs pos="0">
                <a:schemeClr val="bg1">
                  <a:lumMod val="75000"/>
                </a:schemeClr>
              </a:gs>
              <a:gs pos="100000">
                <a:schemeClr val="bg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lIns="198000" tIns="46800" rIns="90000" bIns="46800" anchor="ctr"/>
          <a:lstStyle/>
          <a:p>
            <a:pPr>
              <a:spcBef>
                <a:spcPct val="20000"/>
              </a:spcBef>
              <a:buClr>
                <a:srgbClr val="52ADE7"/>
              </a:buClr>
              <a:buFont typeface="Wingdings" pitchFamily="2" charset="2"/>
              <a:buNone/>
              <a:defRPr/>
            </a:pPr>
            <a:endParaRPr lang="de-CH" sz="2400" i="1">
              <a:solidFill>
                <a:srgbClr val="FFFFFF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5367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4" r:id="rId1"/>
    <p:sldLayoutId id="2147483935" r:id="rId2"/>
    <p:sldLayoutId id="2147483936" r:id="rId3"/>
  </p:sldLayoutIdLst>
  <p:txStyles>
    <p:titleStyle>
      <a:lvl1pPr algn="l" rtl="0" eaLnBrk="0" fontAlgn="base" hangingPunct="0">
        <a:lnSpc>
          <a:spcPct val="1000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latin typeface="Calibri"/>
          <a:ea typeface="+mj-ea"/>
          <a:cs typeface="Calibri"/>
        </a:defRPr>
      </a:lvl1pPr>
      <a:lvl2pPr algn="l" rtl="0" eaLnBrk="0" fontAlgn="base" hangingPunct="0">
        <a:lnSpc>
          <a:spcPts val="38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2pPr>
      <a:lvl3pPr algn="l" rtl="0" eaLnBrk="0" fontAlgn="base" hangingPunct="0">
        <a:lnSpc>
          <a:spcPts val="38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3pPr>
      <a:lvl4pPr algn="l" rtl="0" eaLnBrk="0" fontAlgn="base" hangingPunct="0">
        <a:lnSpc>
          <a:spcPts val="38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4pPr>
      <a:lvl5pPr algn="l" rtl="0" eaLnBrk="0" fontAlgn="base" hangingPunct="0">
        <a:lnSpc>
          <a:spcPts val="38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5pPr>
      <a:lvl6pPr marL="457200" algn="l" rtl="0" fontAlgn="base">
        <a:lnSpc>
          <a:spcPts val="38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6pPr>
      <a:lvl7pPr marL="914400" algn="l" rtl="0" fontAlgn="base">
        <a:lnSpc>
          <a:spcPts val="38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7pPr>
      <a:lvl8pPr marL="1371600" algn="l" rtl="0" fontAlgn="base">
        <a:lnSpc>
          <a:spcPts val="38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8pPr>
      <a:lvl9pPr marL="1828800" algn="l" rtl="0" fontAlgn="base">
        <a:lnSpc>
          <a:spcPts val="3800"/>
        </a:lnSpc>
        <a:spcBef>
          <a:spcPct val="0"/>
        </a:spcBef>
        <a:spcAft>
          <a:spcPct val="0"/>
        </a:spcAft>
        <a:defRPr sz="2400" b="1">
          <a:solidFill>
            <a:schemeClr val="bg1"/>
          </a:solidFill>
          <a:latin typeface="Arial" charset="0"/>
        </a:defRPr>
      </a:lvl9pPr>
    </p:titleStyle>
    <p:bodyStyle>
      <a:lvl1pPr marL="342900" indent="-342900" algn="l" rtl="0" eaLnBrk="0" fontAlgn="base" hangingPunct="0">
        <a:lnSpc>
          <a:spcPts val="4000"/>
        </a:lnSpc>
        <a:spcBef>
          <a:spcPts val="800"/>
        </a:spcBef>
        <a:spcAft>
          <a:spcPct val="0"/>
        </a:spcAft>
        <a:buClr>
          <a:srgbClr val="2A6AB3"/>
        </a:buClr>
        <a:buSzPct val="110000"/>
        <a:buFont typeface="Wingdings" pitchFamily="2" charset="2"/>
        <a:buChar char="•"/>
        <a:defRPr sz="2000" b="1">
          <a:solidFill>
            <a:srgbClr val="4D4D4D"/>
          </a:solidFill>
          <a:latin typeface="Calibri"/>
          <a:ea typeface="+mn-ea"/>
          <a:cs typeface="Calibri"/>
        </a:defRPr>
      </a:lvl1pPr>
      <a:lvl2pPr marL="742950" indent="-285750" algn="l" rtl="0" eaLnBrk="0" fontAlgn="base" hangingPunct="0">
        <a:lnSpc>
          <a:spcPts val="3200"/>
        </a:lnSpc>
        <a:spcBef>
          <a:spcPts val="4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–"/>
        <a:defRPr sz="2800" b="1">
          <a:solidFill>
            <a:srgbClr val="4D4D4D"/>
          </a:solidFill>
          <a:latin typeface="Calibri"/>
          <a:cs typeface="Calibri"/>
        </a:defRPr>
      </a:lvl2pPr>
      <a:lvl3pPr marL="1143000" indent="-228600" algn="l" rtl="0" eaLnBrk="0" fontAlgn="base" hangingPunct="0">
        <a:lnSpc>
          <a:spcPts val="2400"/>
        </a:lnSpc>
        <a:spcBef>
          <a:spcPts val="400"/>
        </a:spcBef>
        <a:spcAft>
          <a:spcPct val="0"/>
        </a:spcAft>
        <a:buChar char="•"/>
        <a:defRPr sz="1600" b="1">
          <a:solidFill>
            <a:srgbClr val="4D4D4D"/>
          </a:solidFill>
          <a:latin typeface="Calibri"/>
          <a:cs typeface="Calibri"/>
        </a:defRPr>
      </a:lvl3pPr>
      <a:lvl4pPr marL="1600200" indent="-228600" algn="l" rtl="0" eaLnBrk="0" fontAlgn="base" hangingPunct="0">
        <a:lnSpc>
          <a:spcPts val="1800"/>
        </a:lnSpc>
        <a:spcBef>
          <a:spcPts val="400"/>
        </a:spcBef>
        <a:spcAft>
          <a:spcPct val="0"/>
        </a:spcAft>
        <a:buFont typeface="Times"/>
        <a:buChar char="–"/>
        <a:defRPr sz="1400" b="1">
          <a:solidFill>
            <a:srgbClr val="4D4D4D"/>
          </a:solidFill>
          <a:latin typeface="Calibri"/>
          <a:cs typeface="Calibri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SzPct val="60000"/>
        <a:buChar char="»"/>
        <a:defRPr sz="1600">
          <a:solidFill>
            <a:srgbClr val="4D4D4D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SzPct val="60000"/>
        <a:defRPr sz="1600">
          <a:solidFill>
            <a:srgbClr val="4D4D4D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SzPct val="60000"/>
        <a:defRPr sz="1600">
          <a:solidFill>
            <a:srgbClr val="4D4D4D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SzPct val="60000"/>
        <a:defRPr sz="1600">
          <a:solidFill>
            <a:srgbClr val="4D4D4D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SzPct val="60000"/>
        <a:defRPr sz="1600">
          <a:solidFill>
            <a:srgbClr val="4D4D4D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bradshaw@wis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mailto:amcmillan@uwhealth.org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xkcd.com/1838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e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ncerimagingarchive.net/" TargetMode="External"/><Relationship Id="rId2" Type="http://schemas.openxmlformats.org/officeDocument/2006/relationships/hyperlink" Target="https://github.com/kmjohnson3/ML4MI_BootCamp" TargetMode="Externa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3"/>
          <p:cNvSpPr>
            <a:spLocks noGrp="1"/>
          </p:cNvSpPr>
          <p:nvPr>
            <p:ph type="title"/>
          </p:nvPr>
        </p:nvSpPr>
        <p:spPr bwMode="auto">
          <a:xfrm>
            <a:off x="129973" y="333330"/>
            <a:ext cx="9543437" cy="1018907"/>
          </a:xfr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SNMMI Hands-on Training for AI: </a:t>
            </a:r>
            <a:br>
              <a:rPr lang="en-US" dirty="0"/>
            </a:br>
            <a:r>
              <a:rPr lang="en-US" dirty="0"/>
              <a:t>	Do’s and </a:t>
            </a:r>
            <a:r>
              <a:rPr lang="en-US" dirty="0" err="1"/>
              <a:t>Dont’s</a:t>
            </a:r>
            <a:r>
              <a:rPr lang="en-US" dirty="0"/>
              <a:t> of Deep Learning</a:t>
            </a:r>
            <a:br>
              <a:rPr lang="en-US" dirty="0"/>
            </a:br>
            <a:r>
              <a:rPr lang="en-US" dirty="0"/>
              <a:t>	</a:t>
            </a:r>
            <a:br>
              <a:rPr lang="en-US" dirty="0"/>
            </a:br>
            <a:r>
              <a:rPr lang="en-US" dirty="0"/>
              <a:t>		</a:t>
            </a:r>
            <a:endParaRPr lang="en-US" sz="40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4"/>
          <p:cNvSpPr txBox="1">
            <a:spLocks/>
          </p:cNvSpPr>
          <p:nvPr/>
        </p:nvSpPr>
        <p:spPr bwMode="auto">
          <a:xfrm>
            <a:off x="129973" y="3979813"/>
            <a:ext cx="10408118" cy="464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Contributors:</a:t>
            </a:r>
          </a:p>
          <a:p>
            <a:pPr fontAlgn="auto">
              <a:spcBef>
                <a:spcPct val="20000"/>
              </a:spcBef>
              <a:spcAft>
                <a:spcPts val="0"/>
              </a:spcAft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	</a:t>
            </a:r>
            <a:r>
              <a:rPr lang="en-US" sz="2800" i="1" dirty="0">
                <a:solidFill>
                  <a:srgbClr val="C00000"/>
                </a:solidFill>
                <a:latin typeface="Calibri Light" panose="020F0302020204030204"/>
              </a:rPr>
              <a:t>Tyler J Bradshaw ( </a:t>
            </a:r>
            <a:r>
              <a:rPr lang="en-US" sz="2800" i="1" dirty="0">
                <a:solidFill>
                  <a:srgbClr val="C00000"/>
                </a:solidFill>
                <a:latin typeface="Calibri Light" panose="020F0302020204030204"/>
                <a:hlinkClick r:id="rId3"/>
              </a:rPr>
              <a:t>tbradshaw@wisc.edu</a:t>
            </a:r>
            <a:r>
              <a:rPr lang="en-US" sz="2800" i="1" dirty="0">
                <a:solidFill>
                  <a:srgbClr val="C00000"/>
                </a:solidFill>
                <a:latin typeface="Calibri Light" panose="020F0302020204030204"/>
              </a:rPr>
              <a:t> )</a:t>
            </a:r>
            <a:endParaRPr kumimoji="0" lang="en-US" sz="2800" b="0" i="1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  <a:p>
            <a:pPr lvl="0" fontAlgn="auto">
              <a:spcBef>
                <a:spcPct val="20000"/>
              </a:spcBef>
              <a:spcAft>
                <a:spcPts val="0"/>
              </a:spcAft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	Alan B </a:t>
            </a:r>
            <a:r>
              <a:rPr lang="en-US" sz="2800" i="1" dirty="0">
                <a:solidFill>
                  <a:srgbClr val="C00000"/>
                </a:solidFill>
                <a:latin typeface="Calibri Light" panose="020F0302020204030204"/>
              </a:rPr>
              <a:t>McMillan( </a:t>
            </a:r>
            <a:r>
              <a:rPr lang="en-US" sz="2800" i="1" dirty="0">
                <a:solidFill>
                  <a:srgbClr val="C00000"/>
                </a:solidFill>
                <a:latin typeface="Calibri Light" panose="020F0302020204030204"/>
                <a:hlinkClick r:id="rId4"/>
              </a:rPr>
              <a:t>amcmillan@uwhealth.org</a:t>
            </a:r>
            <a:r>
              <a:rPr lang="en-US" sz="2800" i="1" dirty="0">
                <a:solidFill>
                  <a:srgbClr val="C00000"/>
                </a:solidFill>
                <a:latin typeface="Calibri Light" panose="020F0302020204030204"/>
              </a:rPr>
              <a:t>)</a:t>
            </a:r>
            <a:endParaRPr kumimoji="0" lang="en-US" sz="2800" b="0" i="1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  <a:p>
            <a:pPr fontAlgn="auto">
              <a:spcBef>
                <a:spcPct val="20000"/>
              </a:spcBef>
              <a:spcAft>
                <a:spcPts val="0"/>
              </a:spcAft>
              <a:defRPr/>
            </a:pPr>
            <a:r>
              <a:rPr lang="en-US" sz="2800" i="1" dirty="0">
                <a:solidFill>
                  <a:srgbClr val="C00000"/>
                </a:solidFill>
                <a:latin typeface="Calibri Light" panose="020F0302020204030204"/>
              </a:rPr>
              <a:t>	</a:t>
            </a: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	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Special thanks to Kevin Johnson and Jacob Johnson from University</a:t>
            </a:r>
            <a:r>
              <a:rPr lang="en-US" sz="2400" i="1" dirty="0">
                <a:solidFill>
                  <a:srgbClr val="C00000"/>
                </a:solidFill>
                <a:latin typeface="Calibri Light" panose="020F0302020204030204"/>
              </a:rPr>
              <a:t> of Wisconsin</a:t>
            </a:r>
            <a:endParaRPr kumimoji="0" lang="en-US" sz="2800" b="0" i="1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Text Placeholder 4"/>
          <p:cNvSpPr txBox="1">
            <a:spLocks/>
          </p:cNvSpPr>
          <p:nvPr/>
        </p:nvSpPr>
        <p:spPr bwMode="auto">
          <a:xfrm>
            <a:off x="131985" y="2342164"/>
            <a:ext cx="11820501" cy="11919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i="1" dirty="0">
                <a:solidFill>
                  <a:schemeClr val="tx1">
                    <a:lumMod val="50000"/>
                  </a:schemeClr>
                </a:solidFill>
                <a:latin typeface="Calibri Light" panose="020F0302020204030204"/>
              </a:rPr>
              <a:t>Updated:</a:t>
            </a:r>
            <a:endParaRPr kumimoji="0" lang="en-US" sz="2800" b="0" i="1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50000"/>
                </a:schemeClr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</a:schemeClr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	April 13</a:t>
            </a:r>
            <a:r>
              <a:rPr lang="en-US" sz="2800" i="1" dirty="0">
                <a:solidFill>
                  <a:schemeClr val="tx1">
                    <a:lumMod val="50000"/>
                  </a:schemeClr>
                </a:solidFill>
                <a:latin typeface="Calibri Light" panose="020F0302020204030204"/>
              </a:rPr>
              <a:t>, 2020</a:t>
            </a:r>
          </a:p>
        </p:txBody>
      </p:sp>
    </p:spTree>
    <p:extLst>
      <p:ext uri="{BB962C8B-B14F-4D97-AF65-F5344CB8AC3E}">
        <p14:creationId xmlns:p14="http://schemas.microsoft.com/office/powerpoint/2010/main" val="2415342325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2FFD04-54CF-4929-9231-92503C562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Things will not go as planned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D6A634-85F7-4776-9737-74D6399B50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The art of deep learning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3F54C9-A0AE-466A-BD24-D90EF7B556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3153" y="1628664"/>
            <a:ext cx="4240893" cy="501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D0E4086-55B7-455D-8172-8E674E411946}"/>
              </a:ext>
            </a:extLst>
          </p:cNvPr>
          <p:cNvSpPr/>
          <p:nvPr/>
        </p:nvSpPr>
        <p:spPr>
          <a:xfrm>
            <a:off x="5132534" y="6632522"/>
            <a:ext cx="172354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>
                <a:hlinkClick r:id="rId3"/>
              </a:rPr>
              <a:t>https://xkcd.com/1838/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56112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DA02600-5969-4A66-A9C0-F41BB995EB89}"/>
              </a:ext>
            </a:extLst>
          </p:cNvPr>
          <p:cNvSpPr/>
          <p:nvPr/>
        </p:nvSpPr>
        <p:spPr>
          <a:xfrm>
            <a:off x="1756229" y="868280"/>
            <a:ext cx="8113485" cy="387789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spAutoFit/>
          </a:bodyPr>
          <a:lstStyle/>
          <a:p>
            <a:pPr marL="228600" indent="-228600" algn="ctr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12109-64F5-41B0-9C70-F672E21A9F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1. Do: double check, triple check your input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EBB33F-FB66-4569-AFAE-71D667F076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756" t="9798" r="39037" b="9446"/>
          <a:stretch/>
        </p:blipFill>
        <p:spPr>
          <a:xfrm rot="16200000">
            <a:off x="2405131" y="1407042"/>
            <a:ext cx="2699658" cy="34695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E9E84B-0B10-4A53-AD3C-2E9F817CB6D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449" t="9704" r="38234" b="12413"/>
          <a:stretch/>
        </p:blipFill>
        <p:spPr>
          <a:xfrm rot="16200000">
            <a:off x="6415316" y="1472659"/>
            <a:ext cx="2699658" cy="33382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8D035B-215D-4EF4-870A-BBD7E0CC6D80}"/>
              </a:ext>
            </a:extLst>
          </p:cNvPr>
          <p:cNvSpPr txBox="1"/>
          <p:nvPr/>
        </p:nvSpPr>
        <p:spPr bwMode="auto">
          <a:xfrm>
            <a:off x="2620949" y="3919741"/>
            <a:ext cx="2006768" cy="52322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none" rtlCol="0" anchorCtr="1">
            <a:spAutoFit/>
          </a:bodyPr>
          <a:lstStyle/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2800" b="0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Impact" panose="020B0806030902050204" pitchFamily="34" charset="0"/>
              </a:rPr>
              <a:t>EXPECTATION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D6A94D-8E2D-4538-9DAA-33E8C4FEC437}"/>
              </a:ext>
            </a:extLst>
          </p:cNvPr>
          <p:cNvSpPr txBox="1"/>
          <p:nvPr/>
        </p:nvSpPr>
        <p:spPr bwMode="auto">
          <a:xfrm>
            <a:off x="7308560" y="3919741"/>
            <a:ext cx="1294842" cy="52322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none" rtlCol="0" anchorCtr="1">
            <a:spAutoFit/>
          </a:bodyPr>
          <a:lstStyle/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2800" b="0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Impact" panose="020B0806030902050204" pitchFamily="34" charset="0"/>
              </a:rPr>
              <a:t>REALITY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E6A79C-5EF2-41E8-90CD-33FDF872F42C}"/>
              </a:ext>
            </a:extLst>
          </p:cNvPr>
          <p:cNvSpPr txBox="1"/>
          <p:nvPr/>
        </p:nvSpPr>
        <p:spPr bwMode="auto">
          <a:xfrm>
            <a:off x="1025224" y="4858459"/>
            <a:ext cx="10537370" cy="1169551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rtlCol="0" anchor="ctr" anchorCtr="0">
            <a:spAutoFit/>
          </a:bodyPr>
          <a:lstStyle/>
          <a:p>
            <a:pPr marL="457200" indent="-457200">
              <a:lnSpc>
                <a:spcPct val="100000"/>
              </a:lnSpc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en-US" sz="2800" b="0" dirty="0"/>
              <a:t>This is hard to diagnose from the model’s output alone</a:t>
            </a:r>
          </a:p>
          <a:p>
            <a:pPr marL="457200" indent="-457200">
              <a:lnSpc>
                <a:spcPct val="100000"/>
              </a:lnSpc>
              <a:spcBef>
                <a:spcPct val="50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C</a:t>
            </a:r>
            <a:r>
              <a:rPr lang="en-US" sz="2800" b="0" dirty="0"/>
              <a:t>an send you down the wrong path for a LONG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A6CC-97CD-4997-8402-5D29C6FB2FC1}"/>
              </a:ext>
            </a:extLst>
          </p:cNvPr>
          <p:cNvSpPr txBox="1"/>
          <p:nvPr/>
        </p:nvSpPr>
        <p:spPr bwMode="auto">
          <a:xfrm>
            <a:off x="3886072" y="868280"/>
            <a:ext cx="3935180" cy="52322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none" rtlCol="0" anchorCtr="1">
            <a:spAutoFit/>
          </a:bodyPr>
          <a:lstStyle/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2800" b="0" dirty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Impact" panose="020B0806030902050204" pitchFamily="34" charset="0"/>
              </a:rPr>
              <a:t>DEEP LEARNING DATA INPUT</a:t>
            </a:r>
          </a:p>
        </p:txBody>
      </p:sp>
    </p:spTree>
    <p:extLst>
      <p:ext uri="{BB962C8B-B14F-4D97-AF65-F5344CB8AC3E}">
        <p14:creationId xmlns:p14="http://schemas.microsoft.com/office/powerpoint/2010/main" val="2561222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E23F5C5-DFFF-4FF5-BCC3-51D7930D46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2. Do: check your loss plots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9913" y="698499"/>
            <a:ext cx="4428773" cy="29474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214" y="698499"/>
            <a:ext cx="4428773" cy="29482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8714" y="3636973"/>
            <a:ext cx="4616746" cy="307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94851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E23F5C5-DFFF-4FF5-BCC3-51D7930D46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2. Do: check your loss plots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9913" y="698499"/>
            <a:ext cx="4428773" cy="29474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213" y="698499"/>
            <a:ext cx="4428773" cy="29482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8714" y="3636973"/>
            <a:ext cx="4616746" cy="307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/>
          <p:nvPr/>
        </p:nvSpPr>
        <p:spPr bwMode="auto">
          <a:xfrm rot="20654522">
            <a:off x="1098885" y="1850038"/>
            <a:ext cx="4288354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rtlCol="0" anchorCtr="1">
            <a:spAutoFit/>
          </a:bodyPr>
          <a:lstStyle/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2000" b="0" dirty="0">
                <a:latin typeface="Stencil" panose="040409050D0802020404" pitchFamily="82" charset="0"/>
              </a:rPr>
              <a:t>Overfitting / not enough data</a:t>
            </a:r>
          </a:p>
        </p:txBody>
      </p:sp>
      <p:sp>
        <p:nvSpPr>
          <p:cNvPr id="12" name="TextBox 11"/>
          <p:cNvSpPr txBox="1"/>
          <p:nvPr/>
        </p:nvSpPr>
        <p:spPr bwMode="auto">
          <a:xfrm rot="20654522">
            <a:off x="7199804" y="1850037"/>
            <a:ext cx="3348994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rtlCol="0" anchorCtr="1">
            <a:spAutoFit/>
          </a:bodyPr>
          <a:lstStyle/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2000" b="0" dirty="0">
                <a:latin typeface="Stencil" panose="040409050D0802020404" pitchFamily="82" charset="0"/>
              </a:rPr>
              <a:t>Stuck in LOCAL minimum</a:t>
            </a:r>
          </a:p>
        </p:txBody>
      </p:sp>
      <p:sp>
        <p:nvSpPr>
          <p:cNvPr id="13" name="TextBox 12"/>
          <p:cNvSpPr txBox="1"/>
          <p:nvPr/>
        </p:nvSpPr>
        <p:spPr bwMode="auto">
          <a:xfrm rot="20654522">
            <a:off x="4587926" y="4906577"/>
            <a:ext cx="2778325" cy="40011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rtlCol="0" anchorCtr="1">
            <a:spAutoFit/>
          </a:bodyPr>
          <a:lstStyle/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2000" b="0" dirty="0">
                <a:latin typeface="Stencil" panose="040409050D0802020404" pitchFamily="82" charset="0"/>
              </a:rPr>
              <a:t>Network too small</a:t>
            </a:r>
          </a:p>
        </p:txBody>
      </p:sp>
    </p:spTree>
    <p:extLst>
      <p:ext uri="{BB962C8B-B14F-4D97-AF65-F5344CB8AC3E}">
        <p14:creationId xmlns:p14="http://schemas.microsoft.com/office/powerpoint/2010/main" val="2598564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906C0A-3823-4CAF-B51F-3F27F4C5F5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 algn="ctr">
              <a:buNone/>
            </a:pPr>
            <a:r>
              <a:rPr lang="en-US" dirty="0"/>
              <a:t>Class balancing methods exist and are simple to implement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A5899-FC27-481C-9E23-F7F5193848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3. Don’t: train with large class imbalance</a:t>
            </a:r>
          </a:p>
        </p:txBody>
      </p:sp>
      <p:pic>
        <p:nvPicPr>
          <p:cNvPr id="309" name="Picture 308">
            <a:extLst>
              <a:ext uri="{FF2B5EF4-FFF2-40B4-BE49-F238E27FC236}">
                <a16:creationId xmlns:a16="http://schemas.microsoft.com/office/drawing/2014/main" id="{30526F3E-32B6-4B9D-87B8-1D8E0E90F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744" y="866560"/>
            <a:ext cx="6821714" cy="3678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977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F5EC20-4694-4950-B11B-1EF1E2542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Options: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Stop training at validation minimum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 a smaller network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Data augmentation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features to network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Batch normalization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Dropout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20FB4C-CB85-4BDB-927D-F3E223C2E2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4. Don’t: overfit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F68E588-C58B-4E4A-A617-427B55F1A5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7813532"/>
              </p:ext>
            </p:extLst>
          </p:nvPr>
        </p:nvGraphicFramePr>
        <p:xfrm>
          <a:off x="4210050" y="704422"/>
          <a:ext cx="3771900" cy="2510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3">
            <a:extLst>
              <a:ext uri="{FF2B5EF4-FFF2-40B4-BE49-F238E27FC236}">
                <a16:creationId xmlns:a16="http://schemas.microsoft.com/office/drawing/2014/main" id="{67D2E482-B8E4-4967-9E08-3ED3A8B7B674}"/>
              </a:ext>
            </a:extLst>
          </p:cNvPr>
          <p:cNvSpPr txBox="1"/>
          <p:nvPr/>
        </p:nvSpPr>
        <p:spPr bwMode="auto">
          <a:xfrm>
            <a:off x="5264301" y="1311223"/>
            <a:ext cx="1190328" cy="338554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rtlCol="0" anchorCtr="1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1600" b="0" dirty="0">
                <a:solidFill>
                  <a:srgbClr val="FF0000"/>
                </a:solidFill>
              </a:rPr>
              <a:t>Validation</a:t>
            </a:r>
            <a:endParaRPr lang="en-US" sz="2800" b="0" dirty="0">
              <a:solidFill>
                <a:srgbClr val="FF0000"/>
              </a:solidFill>
            </a:endParaRP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3BE3908E-6492-4B80-8F38-F7E6DF3751B8}"/>
              </a:ext>
            </a:extLst>
          </p:cNvPr>
          <p:cNvSpPr txBox="1"/>
          <p:nvPr/>
        </p:nvSpPr>
        <p:spPr bwMode="auto">
          <a:xfrm rot="1054416">
            <a:off x="4663661" y="1918486"/>
            <a:ext cx="1021814" cy="338554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rtlCol="0" anchorCtr="1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1600" b="0" dirty="0"/>
              <a:t>Training</a:t>
            </a:r>
            <a:endParaRPr lang="en-US" sz="2800" b="0" dirty="0"/>
          </a:p>
        </p:txBody>
      </p:sp>
    </p:spTree>
    <p:extLst>
      <p:ext uri="{BB962C8B-B14F-4D97-AF65-F5344CB8AC3E}">
        <p14:creationId xmlns:p14="http://schemas.microsoft.com/office/powerpoint/2010/main" val="2449407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F5EC20-4694-4950-B11B-1EF1E2542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Options: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Stop training at validation minimum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 a smaller network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Data augmentation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features to network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Batch normalization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Dropout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20FB4C-CB85-4BDB-927D-F3E223C2E2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4. Don’t: overfit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F68E588-C58B-4E4A-A617-427B55F1A5AC}"/>
              </a:ext>
            </a:extLst>
          </p:cNvPr>
          <p:cNvGraphicFramePr>
            <a:graphicFrameLocks/>
          </p:cNvGraphicFramePr>
          <p:nvPr/>
        </p:nvGraphicFramePr>
        <p:xfrm>
          <a:off x="4210050" y="704422"/>
          <a:ext cx="3771900" cy="2510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3">
            <a:extLst>
              <a:ext uri="{FF2B5EF4-FFF2-40B4-BE49-F238E27FC236}">
                <a16:creationId xmlns:a16="http://schemas.microsoft.com/office/drawing/2014/main" id="{67D2E482-B8E4-4967-9E08-3ED3A8B7B674}"/>
              </a:ext>
            </a:extLst>
          </p:cNvPr>
          <p:cNvSpPr txBox="1"/>
          <p:nvPr/>
        </p:nvSpPr>
        <p:spPr bwMode="auto">
          <a:xfrm>
            <a:off x="5264301" y="1311223"/>
            <a:ext cx="1190328" cy="338554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rtlCol="0" anchorCtr="1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1600" b="0" dirty="0">
                <a:solidFill>
                  <a:srgbClr val="FF0000"/>
                </a:solidFill>
              </a:rPr>
              <a:t>Validation</a:t>
            </a:r>
            <a:endParaRPr lang="en-US" sz="2800" b="0" dirty="0">
              <a:solidFill>
                <a:srgbClr val="FF0000"/>
              </a:solidFill>
            </a:endParaRP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3BE3908E-6492-4B80-8F38-F7E6DF3751B8}"/>
              </a:ext>
            </a:extLst>
          </p:cNvPr>
          <p:cNvSpPr txBox="1"/>
          <p:nvPr/>
        </p:nvSpPr>
        <p:spPr bwMode="auto">
          <a:xfrm rot="1054416">
            <a:off x="4663661" y="1918486"/>
            <a:ext cx="1021814" cy="338554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rtlCol="0" anchorCtr="1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1600" b="0" dirty="0"/>
              <a:t>Training</a:t>
            </a:r>
            <a:endParaRPr lang="en-US" sz="2800" b="0" dirty="0"/>
          </a:p>
        </p:txBody>
      </p:sp>
      <p:pic>
        <p:nvPicPr>
          <p:cNvPr id="7" name="Picture 6" descr="Images Augmentation for Deep Learning with Keras">
            <a:extLst>
              <a:ext uri="{FF2B5EF4-FFF2-40B4-BE49-F238E27FC236}">
                <a16:creationId xmlns:a16="http://schemas.microsoft.com/office/drawing/2014/main" id="{3452B979-9A83-4872-89DA-E22361EEC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741" y="4425827"/>
            <a:ext cx="2935760" cy="2217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4D83A0-D243-4E06-B481-ED46CBFCFE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3356" y="4511872"/>
            <a:ext cx="2849240" cy="18886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4">
            <a:extLst>
              <a:ext uri="{FF2B5EF4-FFF2-40B4-BE49-F238E27FC236}">
                <a16:creationId xmlns:a16="http://schemas.microsoft.com/office/drawing/2014/main" id="{75509530-941D-4372-B57B-3D5353AF5DEC}"/>
              </a:ext>
            </a:extLst>
          </p:cNvPr>
          <p:cNvSpPr txBox="1"/>
          <p:nvPr/>
        </p:nvSpPr>
        <p:spPr bwMode="auto">
          <a:xfrm>
            <a:off x="9720203" y="6385254"/>
            <a:ext cx="1295546" cy="261610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none" rtlCol="0" anchorCtr="1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1100" b="0" dirty="0">
                <a:solidFill>
                  <a:srgbClr val="C00000"/>
                </a:solidFill>
              </a:rPr>
              <a:t>Castro et al, 2018</a:t>
            </a:r>
          </a:p>
        </p:txBody>
      </p:sp>
    </p:spTree>
    <p:extLst>
      <p:ext uri="{BB962C8B-B14F-4D97-AF65-F5344CB8AC3E}">
        <p14:creationId xmlns:p14="http://schemas.microsoft.com/office/powerpoint/2010/main" val="1018712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F5EC20-4694-4950-B11B-1EF1E2542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Options: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Stop training at validation minimum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 a smaller network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Data augmentation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features to network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Batch normalization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Dropout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20FB4C-CB85-4BDB-927D-F3E223C2E2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4. Don’t: overfit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F68E588-C58B-4E4A-A617-427B55F1A5AC}"/>
              </a:ext>
            </a:extLst>
          </p:cNvPr>
          <p:cNvGraphicFramePr>
            <a:graphicFrameLocks/>
          </p:cNvGraphicFramePr>
          <p:nvPr/>
        </p:nvGraphicFramePr>
        <p:xfrm>
          <a:off x="4210050" y="704422"/>
          <a:ext cx="3771900" cy="2510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3">
            <a:extLst>
              <a:ext uri="{FF2B5EF4-FFF2-40B4-BE49-F238E27FC236}">
                <a16:creationId xmlns:a16="http://schemas.microsoft.com/office/drawing/2014/main" id="{67D2E482-B8E4-4967-9E08-3ED3A8B7B674}"/>
              </a:ext>
            </a:extLst>
          </p:cNvPr>
          <p:cNvSpPr txBox="1"/>
          <p:nvPr/>
        </p:nvSpPr>
        <p:spPr bwMode="auto">
          <a:xfrm>
            <a:off x="5264301" y="1311223"/>
            <a:ext cx="1190328" cy="338554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rtlCol="0" anchorCtr="1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1600" b="0" dirty="0">
                <a:solidFill>
                  <a:srgbClr val="FF0000"/>
                </a:solidFill>
              </a:rPr>
              <a:t>Validation</a:t>
            </a:r>
            <a:endParaRPr lang="en-US" sz="2800" b="0" dirty="0">
              <a:solidFill>
                <a:srgbClr val="FF0000"/>
              </a:solidFill>
            </a:endParaRP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3BE3908E-6492-4B80-8F38-F7E6DF3751B8}"/>
              </a:ext>
            </a:extLst>
          </p:cNvPr>
          <p:cNvSpPr txBox="1"/>
          <p:nvPr/>
        </p:nvSpPr>
        <p:spPr bwMode="auto">
          <a:xfrm rot="1054416">
            <a:off x="4663661" y="1918486"/>
            <a:ext cx="1021814" cy="338554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rtlCol="0" anchorCtr="1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1600" b="0" dirty="0"/>
              <a:t>Training</a:t>
            </a:r>
            <a:endParaRPr lang="en-US" sz="2800" b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8695AF-D9EC-4D68-B361-AC9E9BF7E29C}"/>
              </a:ext>
            </a:extLst>
          </p:cNvPr>
          <p:cNvSpPr/>
          <p:nvPr/>
        </p:nvSpPr>
        <p:spPr>
          <a:xfrm>
            <a:off x="5159147" y="5323044"/>
            <a:ext cx="361405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Normalize the output of a layer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Improves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</a:rPr>
              <a:t>Prevents extreme activations</a:t>
            </a:r>
          </a:p>
        </p:txBody>
      </p:sp>
    </p:spTree>
    <p:extLst>
      <p:ext uri="{BB962C8B-B14F-4D97-AF65-F5344CB8AC3E}">
        <p14:creationId xmlns:p14="http://schemas.microsoft.com/office/powerpoint/2010/main" val="32211594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F5EC20-4694-4950-B11B-1EF1E2542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Options: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Stop training at validation minimum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 a smaller network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Data augmentation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Add features to network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Batch normalization</a:t>
            </a:r>
          </a:p>
          <a:p>
            <a:pPr lvl="1"/>
            <a:r>
              <a:rPr lang="en-US" b="1" dirty="0">
                <a:solidFill>
                  <a:srgbClr val="C00000"/>
                </a:solidFill>
              </a:rPr>
              <a:t>Dropout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20FB4C-CB85-4BDB-927D-F3E223C2E2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4. Don’t: overfit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0F68E588-C58B-4E4A-A617-427B55F1A5AC}"/>
              </a:ext>
            </a:extLst>
          </p:cNvPr>
          <p:cNvGraphicFramePr>
            <a:graphicFrameLocks/>
          </p:cNvGraphicFramePr>
          <p:nvPr/>
        </p:nvGraphicFramePr>
        <p:xfrm>
          <a:off x="4210050" y="704422"/>
          <a:ext cx="3771900" cy="2510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3">
            <a:extLst>
              <a:ext uri="{FF2B5EF4-FFF2-40B4-BE49-F238E27FC236}">
                <a16:creationId xmlns:a16="http://schemas.microsoft.com/office/drawing/2014/main" id="{67D2E482-B8E4-4967-9E08-3ED3A8B7B674}"/>
              </a:ext>
            </a:extLst>
          </p:cNvPr>
          <p:cNvSpPr txBox="1"/>
          <p:nvPr/>
        </p:nvSpPr>
        <p:spPr bwMode="auto">
          <a:xfrm>
            <a:off x="5264301" y="1311223"/>
            <a:ext cx="1190328" cy="338554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rtlCol="0" anchorCtr="1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1600" b="0" dirty="0">
                <a:solidFill>
                  <a:srgbClr val="FF0000"/>
                </a:solidFill>
              </a:rPr>
              <a:t>Validation</a:t>
            </a:r>
            <a:endParaRPr lang="en-US" sz="2800" b="0" dirty="0">
              <a:solidFill>
                <a:srgbClr val="FF0000"/>
              </a:solidFill>
            </a:endParaRP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3BE3908E-6492-4B80-8F38-F7E6DF3751B8}"/>
              </a:ext>
            </a:extLst>
          </p:cNvPr>
          <p:cNvSpPr txBox="1"/>
          <p:nvPr/>
        </p:nvSpPr>
        <p:spPr bwMode="auto">
          <a:xfrm rot="1054416">
            <a:off x="4663661" y="1918486"/>
            <a:ext cx="1021814" cy="338554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ffectLst/>
        </p:spPr>
        <p:txBody>
          <a:bodyPr wrap="square" rtlCol="0" anchorCtr="1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itchFamily="34" charset="0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ct val="50000"/>
              </a:spcBef>
              <a:buFontTx/>
              <a:buNone/>
            </a:pPr>
            <a:r>
              <a:rPr lang="en-US" sz="1600" b="0" dirty="0"/>
              <a:t>Training</a:t>
            </a:r>
            <a:endParaRPr lang="en-US" sz="2800" b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1DC76E-8B42-447F-8092-95E5838CE865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619" y="3907340"/>
            <a:ext cx="4347895" cy="2533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1547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2A2A67-6210-45D0-B88E-F34642D4C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Webinar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r>
              <a:rPr lang="en-US" dirty="0">
                <a:solidFill>
                  <a:schemeClr val="tx1"/>
                </a:solidFill>
              </a:rPr>
              <a:t> page:</a:t>
            </a:r>
            <a:br>
              <a:rPr lang="en-US" dirty="0">
                <a:solidFill>
                  <a:srgbClr val="0563C1"/>
                </a:solidFill>
              </a:rPr>
            </a:br>
            <a:r>
              <a:rPr lang="en-US" sz="1800" dirty="0">
                <a:solidFill>
                  <a:srgbClr val="0563C1"/>
                </a:solidFill>
              </a:rPr>
              <a:t>https://github.com/bradshawuw/snmmi_hands_on_training_for_ai</a:t>
            </a:r>
            <a:endParaRPr lang="en-US" sz="1800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UW Boot Camp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r>
              <a:rPr lang="en-US" dirty="0">
                <a:solidFill>
                  <a:schemeClr val="tx1"/>
                </a:solidFill>
              </a:rPr>
              <a:t> page:</a:t>
            </a:r>
            <a:br>
              <a:rPr lang="en-US" dirty="0"/>
            </a:br>
            <a:r>
              <a:rPr lang="en-US" sz="1800" dirty="0">
                <a:hlinkClick r:id="rId2"/>
              </a:rPr>
              <a:t>https://github.com/kmjohnson3/ML4MI_BootCamp</a:t>
            </a:r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Access to data sets via TCIA</a:t>
            </a:r>
            <a:br>
              <a:rPr lang="en-US" dirty="0"/>
            </a:br>
            <a:r>
              <a:rPr lang="en-US" sz="1800" dirty="0">
                <a:hlinkClick r:id="rId3"/>
              </a:rPr>
              <a:t>https://www.cancerimagingarchive.net/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5A0EA8-A907-4713-AD18-13ED024586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2576051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>
        <a:spAutoFit/>
      </a:bodyPr>
      <a:lstStyle>
        <a:defPPr marL="228600" indent="-228600" algn="ctr" fontAlgn="auto">
          <a:lnSpc>
            <a:spcPct val="90000"/>
          </a:lnSpc>
          <a:spcBef>
            <a:spcPts val="1000"/>
          </a:spcBef>
          <a:spcAft>
            <a:spcPts val="0"/>
          </a:spcAft>
          <a:buFont typeface="Arial" panose="020B0604020202020204" pitchFamily="34" charset="0"/>
          <a:buChar char="•"/>
          <a:defRPr sz="2800" dirty="0">
            <a:solidFill>
              <a:prstClr val="black"/>
            </a:solidFill>
            <a:latin typeface="Calibri" panose="020F0502020204030204"/>
          </a:defRPr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txDef>
      <a:spPr bwMode="auto">
        <a:noFill/>
        <a:ln w="19050">
          <a:noFill/>
          <a:miter lim="800000"/>
          <a:headEnd/>
          <a:tailEnd/>
        </a:ln>
        <a:effectLst/>
      </a:spPr>
      <a:bodyPr wrap="square" anchorCtr="1">
        <a:spAutoFit/>
      </a:bodyPr>
      <a:lstStyle>
        <a:defPPr algn="ctr">
          <a:lnSpc>
            <a:spcPct val="100000"/>
          </a:lnSpc>
          <a:spcBef>
            <a:spcPct val="50000"/>
          </a:spcBef>
          <a:buFontTx/>
          <a:buNone/>
          <a:defRPr sz="2800" b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4_Project Overview">
  <a:themeElements>
    <a:clrScheme name="Project Overview 1">
      <a:dk1>
        <a:srgbClr val="000000"/>
      </a:dk1>
      <a:lt1>
        <a:srgbClr val="FFFFFF"/>
      </a:lt1>
      <a:dk2>
        <a:srgbClr val="0066CC"/>
      </a:dk2>
      <a:lt2>
        <a:srgbClr val="CBCBCB"/>
      </a:lt2>
      <a:accent1>
        <a:srgbClr val="00CCFF"/>
      </a:accent1>
      <a:accent2>
        <a:srgbClr val="00FFCC"/>
      </a:accent2>
      <a:accent3>
        <a:srgbClr val="AAB8E2"/>
      </a:accent3>
      <a:accent4>
        <a:srgbClr val="DADADA"/>
      </a:accent4>
      <a:accent5>
        <a:srgbClr val="AAE2FF"/>
      </a:accent5>
      <a:accent6>
        <a:srgbClr val="00E7B9"/>
      </a:accent6>
      <a:hlink>
        <a:srgbClr val="FF3300"/>
      </a:hlink>
      <a:folHlink>
        <a:srgbClr val="FF7C80"/>
      </a:folHlink>
    </a:clrScheme>
    <a:fontScheme name="Project Overvie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Project Overview 1">
        <a:dk1>
          <a:srgbClr val="000000"/>
        </a:dk1>
        <a:lt1>
          <a:srgbClr val="FFFFFF"/>
        </a:lt1>
        <a:dk2>
          <a:srgbClr val="0066CC"/>
        </a:dk2>
        <a:lt2>
          <a:srgbClr val="CBCBCB"/>
        </a:lt2>
        <a:accent1>
          <a:srgbClr val="00CCFF"/>
        </a:accent1>
        <a:accent2>
          <a:srgbClr val="00FFCC"/>
        </a:accent2>
        <a:accent3>
          <a:srgbClr val="AAB8E2"/>
        </a:accent3>
        <a:accent4>
          <a:srgbClr val="DADADA"/>
        </a:accent4>
        <a:accent5>
          <a:srgbClr val="AAE2FF"/>
        </a:accent5>
        <a:accent6>
          <a:srgbClr val="00E7B9"/>
        </a:accent6>
        <a:hlink>
          <a:srgbClr val="FF3300"/>
        </a:hlink>
        <a:folHlink>
          <a:srgbClr val="FF7C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ject Overview 2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3366FF"/>
        </a:accent1>
        <a:accent2>
          <a:srgbClr val="009900"/>
        </a:accent2>
        <a:accent3>
          <a:srgbClr val="FFFFFF"/>
        </a:accent3>
        <a:accent4>
          <a:srgbClr val="000000"/>
        </a:accent4>
        <a:accent5>
          <a:srgbClr val="ADB8FF"/>
        </a:accent5>
        <a:accent6>
          <a:srgbClr val="008A00"/>
        </a:accent6>
        <a:hlink>
          <a:srgbClr val="FF0033"/>
        </a:hlink>
        <a:folHlink>
          <a:srgbClr val="CCCC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ject Overview 3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EAEAEA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555555"/>
        </a:accent6>
        <a:hlink>
          <a:srgbClr val="969696"/>
        </a:hlink>
        <a:folHlink>
          <a:srgbClr val="CBCBC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Standarddesign">
  <a:themeElements>
    <a:clrScheme name="Standard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rgbClr val="CC0000"/>
          </a:solidFill>
          <a:headEnd type="none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spDef>
    <a:lnDef>
      <a:spPr>
        <a:ln>
          <a:solidFill>
            <a:schemeClr val="tx1">
              <a:lumMod val="75000"/>
              <a:lumOff val="25000"/>
            </a:schemeClr>
          </a:solidFill>
          <a:headEnd type="none"/>
          <a:tailEnd type="triangl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b="1" dirty="0" smtClean="0">
            <a:solidFill>
              <a:schemeClr val="tx1">
                <a:lumMod val="65000"/>
                <a:lumOff val="35000"/>
              </a:schemeClr>
            </a:solidFill>
            <a:latin typeface="Calibri"/>
            <a:cs typeface="Calibri"/>
          </a:defRPr>
        </a:defPPr>
      </a:lstStyle>
    </a:txDef>
  </a:objectDefaults>
  <a:extraClrSchemeLst>
    <a:extraClrScheme>
      <a:clrScheme name="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andard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andard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169775</TotalTime>
  <Words>361</Words>
  <Application>Microsoft Office PowerPoint</Application>
  <PresentationFormat>Widescreen</PresentationFormat>
  <Paragraphs>111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11</vt:i4>
      </vt:variant>
    </vt:vector>
  </HeadingPairs>
  <TitlesOfParts>
    <vt:vector size="22" baseType="lpstr">
      <vt:lpstr>Arial</vt:lpstr>
      <vt:lpstr>Calibri</vt:lpstr>
      <vt:lpstr>Calibri Light</vt:lpstr>
      <vt:lpstr>Impact</vt:lpstr>
      <vt:lpstr>Stencil</vt:lpstr>
      <vt:lpstr>Times</vt:lpstr>
      <vt:lpstr>Times New Roman</vt:lpstr>
      <vt:lpstr>Wingdings</vt:lpstr>
      <vt:lpstr>1_Office Theme</vt:lpstr>
      <vt:lpstr>54_Project Overview</vt:lpstr>
      <vt:lpstr>Standarddesign</vt:lpstr>
      <vt:lpstr>SNMMI Hands-on Training for AI:   Do’s and Dont’s of Deep Learning 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Declaration of Conflict of Interest or Relationship</dc:title>
  <dc:creator>Kevin M Johnson</dc:creator>
  <cp:lastModifiedBy>Bradshaw</cp:lastModifiedBy>
  <cp:revision>4558</cp:revision>
  <dcterms:created xsi:type="dcterms:W3CDTF">2010-04-21T20:03:43Z</dcterms:created>
  <dcterms:modified xsi:type="dcterms:W3CDTF">2020-04-04T03:11:19Z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