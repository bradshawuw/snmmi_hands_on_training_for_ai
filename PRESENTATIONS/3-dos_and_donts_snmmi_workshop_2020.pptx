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  <p:sldMasterId id="2147483897" r:id="rId2"/>
    <p:sldMasterId id="2147483933" r:id="rId3"/>
  </p:sldMasterIdLst>
  <p:notesMasterIdLst>
    <p:notesMasterId r:id="rId16"/>
  </p:notesMasterIdLst>
  <p:sldIdLst>
    <p:sldId id="1078" r:id="rId4"/>
    <p:sldId id="1169" r:id="rId5"/>
    <p:sldId id="1171" r:id="rId6"/>
    <p:sldId id="1057" r:id="rId7"/>
    <p:sldId id="1059" r:id="rId8"/>
    <p:sldId id="1170" r:id="rId9"/>
    <p:sldId id="1172" r:id="rId10"/>
    <p:sldId id="1173" r:id="rId11"/>
    <p:sldId id="1174" r:id="rId12"/>
    <p:sldId id="1175" r:id="rId13"/>
    <p:sldId id="1177" r:id="rId14"/>
    <p:sldId id="117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vin Johnson" initials="KJ" lastIdx="2" clrIdx="0">
    <p:extLst>
      <p:ext uri="{19B8F6BF-5375-455C-9EA6-DF929625EA0E}">
        <p15:presenceInfo xmlns:p15="http://schemas.microsoft.com/office/powerpoint/2012/main" userId="S-1-5-21-429934397-719916749-7473742-28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0000"/>
    <a:srgbClr val="FAA8A8"/>
    <a:srgbClr val="FB5353"/>
    <a:srgbClr val="0000FF"/>
    <a:srgbClr val="000000"/>
    <a:srgbClr val="2FA1FF"/>
    <a:srgbClr val="565400"/>
    <a:srgbClr val="FFFF00"/>
    <a:srgbClr val="FFFFFF"/>
    <a:srgbClr val="282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3004" autoAdjust="0"/>
  </p:normalViewPr>
  <p:slideViewPr>
    <p:cSldViewPr snapToGrid="0">
      <p:cViewPr varScale="1">
        <p:scale>
          <a:sx n="102" d="100"/>
          <a:sy n="102" d="100"/>
        </p:scale>
        <p:origin x="88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-119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Book1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Sheet1!$E$11:$F$11</c:f>
              <c:numCache>
                <c:formatCode>General</c:formatCode>
                <c:ptCount val="2"/>
                <c:pt idx="0">
                  <c:v>50</c:v>
                </c:pt>
                <c:pt idx="1">
                  <c:v>1</c:v>
                </c:pt>
              </c:numCache>
            </c:numRef>
          </c:xVal>
          <c:yVal>
            <c:numRef>
              <c:f>Sheet1!$E$12:$F$12</c:f>
              <c:numCache>
                <c:formatCode>General</c:formatCode>
                <c:ptCount val="2"/>
                <c:pt idx="0">
                  <c:v>50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A3-4C3B-8A0A-DB50D329C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391104"/>
        <c:axId val="224391680"/>
      </c:scatterChart>
      <c:valAx>
        <c:axId val="224391104"/>
        <c:scaling>
          <c:orientation val="minMax"/>
          <c:max val="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Epochs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24391680"/>
        <c:crosses val="autoZero"/>
        <c:crossBetween val="midCat"/>
        <c:majorUnit val="10"/>
        <c:minorUnit val="5"/>
      </c:valAx>
      <c:valAx>
        <c:axId val="224391680"/>
        <c:scaling>
          <c:orientation val="minMax"/>
        </c:scaling>
        <c:delete val="1"/>
        <c:axPos val="l"/>
        <c:majorGridlines>
          <c:spPr>
            <a:ln>
              <a:solidFill>
                <a:schemeClr val="tx1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baseline="0" dirty="0"/>
                  <a:t>Loss</a:t>
                </a:r>
              </a:p>
            </c:rich>
          </c:tx>
          <c:layout>
            <c:manualLayout>
              <c:xMode val="edge"/>
              <c:yMode val="edge"/>
              <c:x val="1.9444444444444445E-2"/>
              <c:y val="0.3918691209823221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24391104"/>
        <c:crosses val="autoZero"/>
        <c:crossBetween val="midCat"/>
      </c:valAx>
      <c:spPr>
        <a:ln w="9525"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Sheet1!$E$11:$F$11</c:f>
              <c:numCache>
                <c:formatCode>General</c:formatCode>
                <c:ptCount val="2"/>
                <c:pt idx="0">
                  <c:v>50</c:v>
                </c:pt>
                <c:pt idx="1">
                  <c:v>1</c:v>
                </c:pt>
              </c:numCache>
            </c:numRef>
          </c:xVal>
          <c:yVal>
            <c:numRef>
              <c:f>Sheet1!$E$12:$F$12</c:f>
              <c:numCache>
                <c:formatCode>General</c:formatCode>
                <c:ptCount val="2"/>
                <c:pt idx="0">
                  <c:v>50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A3-4C3B-8A0A-DB50D329C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391104"/>
        <c:axId val="224391680"/>
      </c:scatterChart>
      <c:valAx>
        <c:axId val="224391104"/>
        <c:scaling>
          <c:orientation val="minMax"/>
          <c:max val="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Epochs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24391680"/>
        <c:crosses val="autoZero"/>
        <c:crossBetween val="midCat"/>
        <c:majorUnit val="10"/>
        <c:minorUnit val="5"/>
      </c:valAx>
      <c:valAx>
        <c:axId val="224391680"/>
        <c:scaling>
          <c:orientation val="minMax"/>
        </c:scaling>
        <c:delete val="1"/>
        <c:axPos val="l"/>
        <c:majorGridlines>
          <c:spPr>
            <a:ln>
              <a:solidFill>
                <a:schemeClr val="tx1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baseline="0" dirty="0"/>
                  <a:t>Loss</a:t>
                </a:r>
              </a:p>
            </c:rich>
          </c:tx>
          <c:layout>
            <c:manualLayout>
              <c:xMode val="edge"/>
              <c:yMode val="edge"/>
              <c:x val="1.9444444444444445E-2"/>
              <c:y val="0.3918691209823221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24391104"/>
        <c:crosses val="autoZero"/>
        <c:crossBetween val="midCat"/>
      </c:valAx>
      <c:spPr>
        <a:ln w="9525"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Sheet1!$E$11:$F$11</c:f>
              <c:numCache>
                <c:formatCode>General</c:formatCode>
                <c:ptCount val="2"/>
                <c:pt idx="0">
                  <c:v>50</c:v>
                </c:pt>
                <c:pt idx="1">
                  <c:v>1</c:v>
                </c:pt>
              </c:numCache>
            </c:numRef>
          </c:xVal>
          <c:yVal>
            <c:numRef>
              <c:f>Sheet1!$E$12:$F$12</c:f>
              <c:numCache>
                <c:formatCode>General</c:formatCode>
                <c:ptCount val="2"/>
                <c:pt idx="0">
                  <c:v>50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A3-4C3B-8A0A-DB50D329C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391104"/>
        <c:axId val="224391680"/>
      </c:scatterChart>
      <c:valAx>
        <c:axId val="224391104"/>
        <c:scaling>
          <c:orientation val="minMax"/>
          <c:max val="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Epochs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24391680"/>
        <c:crosses val="autoZero"/>
        <c:crossBetween val="midCat"/>
        <c:majorUnit val="10"/>
        <c:minorUnit val="5"/>
      </c:valAx>
      <c:valAx>
        <c:axId val="224391680"/>
        <c:scaling>
          <c:orientation val="minMax"/>
        </c:scaling>
        <c:delete val="1"/>
        <c:axPos val="l"/>
        <c:majorGridlines>
          <c:spPr>
            <a:ln>
              <a:solidFill>
                <a:schemeClr val="tx1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baseline="0" dirty="0"/>
                  <a:t>Loss</a:t>
                </a:r>
              </a:p>
            </c:rich>
          </c:tx>
          <c:layout>
            <c:manualLayout>
              <c:xMode val="edge"/>
              <c:yMode val="edge"/>
              <c:x val="1.9444444444444445E-2"/>
              <c:y val="0.3918691209823221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24391104"/>
        <c:crosses val="autoZero"/>
        <c:crossBetween val="midCat"/>
      </c:valAx>
      <c:spPr>
        <a:ln w="9525"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Sheet1!$E$11:$F$11</c:f>
              <c:numCache>
                <c:formatCode>General</c:formatCode>
                <c:ptCount val="2"/>
                <c:pt idx="0">
                  <c:v>50</c:v>
                </c:pt>
                <c:pt idx="1">
                  <c:v>1</c:v>
                </c:pt>
              </c:numCache>
            </c:numRef>
          </c:xVal>
          <c:yVal>
            <c:numRef>
              <c:f>Sheet1!$E$12:$F$12</c:f>
              <c:numCache>
                <c:formatCode>General</c:formatCode>
                <c:ptCount val="2"/>
                <c:pt idx="0">
                  <c:v>50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A3-4C3B-8A0A-DB50D329C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391104"/>
        <c:axId val="224391680"/>
      </c:scatterChart>
      <c:valAx>
        <c:axId val="224391104"/>
        <c:scaling>
          <c:orientation val="minMax"/>
          <c:max val="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Epochs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24391680"/>
        <c:crosses val="autoZero"/>
        <c:crossBetween val="midCat"/>
        <c:majorUnit val="10"/>
        <c:minorUnit val="5"/>
      </c:valAx>
      <c:valAx>
        <c:axId val="224391680"/>
        <c:scaling>
          <c:orientation val="minMax"/>
        </c:scaling>
        <c:delete val="1"/>
        <c:axPos val="l"/>
        <c:majorGridlines>
          <c:spPr>
            <a:ln>
              <a:solidFill>
                <a:schemeClr val="tx1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baseline="0" dirty="0"/>
                  <a:t>Loss</a:t>
                </a:r>
              </a:p>
            </c:rich>
          </c:tx>
          <c:layout>
            <c:manualLayout>
              <c:xMode val="edge"/>
              <c:yMode val="edge"/>
              <c:x val="1.9444444444444445E-2"/>
              <c:y val="0.3918691209823221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24391104"/>
        <c:crosses val="autoZero"/>
        <c:crossBetween val="midCat"/>
      </c:valAx>
      <c:spPr>
        <a:ln w="9525"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0.09765</cdr:x>
      <cdr:y>0.13578</cdr:y>
    </cdr:from>
    <cdr:to>
      <cdr:x>0.93991</cdr:x>
      <cdr:y>0.68029</cdr:y>
    </cdr:to>
    <cdr:sp macro="" textlink="">
      <cdr:nvSpPr>
        <cdr:cNvPr id="3" name="Freeform 2"/>
        <cdr:cNvSpPr/>
      </cdr:nvSpPr>
      <cdr:spPr>
        <a:xfrm xmlns:a="http://schemas.openxmlformats.org/drawingml/2006/main">
          <a:off x="330200" y="305594"/>
          <a:ext cx="2847975" cy="1225550"/>
        </a:xfrm>
        <a:custGeom xmlns:a="http://schemas.openxmlformats.org/drawingml/2006/main">
          <a:avLst/>
          <a:gdLst>
            <a:gd name="connsiteX0" fmla="*/ 0 w 2847975"/>
            <a:gd name="connsiteY0" fmla="*/ 0 h 1225550"/>
            <a:gd name="connsiteX1" fmla="*/ 34925 w 2847975"/>
            <a:gd name="connsiteY1" fmla="*/ 82550 h 1225550"/>
            <a:gd name="connsiteX2" fmla="*/ 60325 w 2847975"/>
            <a:gd name="connsiteY2" fmla="*/ 165100 h 1225550"/>
            <a:gd name="connsiteX3" fmla="*/ 107950 w 2847975"/>
            <a:gd name="connsiteY3" fmla="*/ 250825 h 1225550"/>
            <a:gd name="connsiteX4" fmla="*/ 149225 w 2847975"/>
            <a:gd name="connsiteY4" fmla="*/ 311150 h 1225550"/>
            <a:gd name="connsiteX5" fmla="*/ 203200 w 2847975"/>
            <a:gd name="connsiteY5" fmla="*/ 377825 h 1225550"/>
            <a:gd name="connsiteX6" fmla="*/ 215900 w 2847975"/>
            <a:gd name="connsiteY6" fmla="*/ 419100 h 1225550"/>
            <a:gd name="connsiteX7" fmla="*/ 273050 w 2847975"/>
            <a:gd name="connsiteY7" fmla="*/ 501650 h 1225550"/>
            <a:gd name="connsiteX8" fmla="*/ 307975 w 2847975"/>
            <a:gd name="connsiteY8" fmla="*/ 574675 h 1225550"/>
            <a:gd name="connsiteX9" fmla="*/ 365125 w 2847975"/>
            <a:gd name="connsiteY9" fmla="*/ 666750 h 1225550"/>
            <a:gd name="connsiteX10" fmla="*/ 441325 w 2847975"/>
            <a:gd name="connsiteY10" fmla="*/ 708025 h 1225550"/>
            <a:gd name="connsiteX11" fmla="*/ 501650 w 2847975"/>
            <a:gd name="connsiteY11" fmla="*/ 762000 h 1225550"/>
            <a:gd name="connsiteX12" fmla="*/ 555625 w 2847975"/>
            <a:gd name="connsiteY12" fmla="*/ 793750 h 1225550"/>
            <a:gd name="connsiteX13" fmla="*/ 600075 w 2847975"/>
            <a:gd name="connsiteY13" fmla="*/ 847725 h 1225550"/>
            <a:gd name="connsiteX14" fmla="*/ 692150 w 2847975"/>
            <a:gd name="connsiteY14" fmla="*/ 898525 h 1225550"/>
            <a:gd name="connsiteX15" fmla="*/ 758825 w 2847975"/>
            <a:gd name="connsiteY15" fmla="*/ 936625 h 1225550"/>
            <a:gd name="connsiteX16" fmla="*/ 898525 w 2847975"/>
            <a:gd name="connsiteY16" fmla="*/ 1000125 h 1225550"/>
            <a:gd name="connsiteX17" fmla="*/ 981075 w 2847975"/>
            <a:gd name="connsiteY17" fmla="*/ 1044575 h 1225550"/>
            <a:gd name="connsiteX18" fmla="*/ 1082675 w 2847975"/>
            <a:gd name="connsiteY18" fmla="*/ 1092200 h 1225550"/>
            <a:gd name="connsiteX19" fmla="*/ 1235075 w 2847975"/>
            <a:gd name="connsiteY19" fmla="*/ 1133475 h 1225550"/>
            <a:gd name="connsiteX20" fmla="*/ 1349375 w 2847975"/>
            <a:gd name="connsiteY20" fmla="*/ 1149350 h 1225550"/>
            <a:gd name="connsiteX21" fmla="*/ 1625600 w 2847975"/>
            <a:gd name="connsiteY21" fmla="*/ 1162050 h 1225550"/>
            <a:gd name="connsiteX22" fmla="*/ 1873250 w 2847975"/>
            <a:gd name="connsiteY22" fmla="*/ 1184275 h 1225550"/>
            <a:gd name="connsiteX23" fmla="*/ 2184400 w 2847975"/>
            <a:gd name="connsiteY23" fmla="*/ 1190625 h 1225550"/>
            <a:gd name="connsiteX24" fmla="*/ 2441575 w 2847975"/>
            <a:gd name="connsiteY24" fmla="*/ 1216025 h 1225550"/>
            <a:gd name="connsiteX25" fmla="*/ 2771775 w 2847975"/>
            <a:gd name="connsiteY25" fmla="*/ 1219200 h 1225550"/>
            <a:gd name="connsiteX26" fmla="*/ 2847975 w 2847975"/>
            <a:gd name="connsiteY26" fmla="*/ 1225550 h 122555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</a:cxnLst>
          <a:rect l="l" t="t" r="r" b="b"/>
          <a:pathLst>
            <a:path w="2847975" h="1225550">
              <a:moveTo>
                <a:pt x="0" y="0"/>
              </a:moveTo>
              <a:lnTo>
                <a:pt x="34925" y="82550"/>
              </a:lnTo>
              <a:lnTo>
                <a:pt x="60325" y="165100"/>
              </a:lnTo>
              <a:lnTo>
                <a:pt x="107950" y="250825"/>
              </a:lnTo>
              <a:lnTo>
                <a:pt x="149225" y="311150"/>
              </a:lnTo>
              <a:lnTo>
                <a:pt x="203200" y="377825"/>
              </a:lnTo>
              <a:lnTo>
                <a:pt x="215900" y="419100"/>
              </a:lnTo>
              <a:lnTo>
                <a:pt x="273050" y="501650"/>
              </a:lnTo>
              <a:lnTo>
                <a:pt x="307975" y="574675"/>
              </a:lnTo>
              <a:lnTo>
                <a:pt x="365125" y="666750"/>
              </a:lnTo>
              <a:lnTo>
                <a:pt x="441325" y="708025"/>
              </a:lnTo>
              <a:lnTo>
                <a:pt x="501650" y="762000"/>
              </a:lnTo>
              <a:lnTo>
                <a:pt x="555625" y="793750"/>
              </a:lnTo>
              <a:lnTo>
                <a:pt x="600075" y="847725"/>
              </a:lnTo>
              <a:lnTo>
                <a:pt x="692150" y="898525"/>
              </a:lnTo>
              <a:lnTo>
                <a:pt x="758825" y="936625"/>
              </a:lnTo>
              <a:lnTo>
                <a:pt x="898525" y="1000125"/>
              </a:lnTo>
              <a:lnTo>
                <a:pt x="981075" y="1044575"/>
              </a:lnTo>
              <a:lnTo>
                <a:pt x="1082675" y="1092200"/>
              </a:lnTo>
              <a:lnTo>
                <a:pt x="1235075" y="1133475"/>
              </a:lnTo>
              <a:lnTo>
                <a:pt x="1349375" y="1149350"/>
              </a:lnTo>
              <a:lnTo>
                <a:pt x="1625600" y="1162050"/>
              </a:lnTo>
              <a:lnTo>
                <a:pt x="1873250" y="1184275"/>
              </a:lnTo>
              <a:lnTo>
                <a:pt x="2184400" y="1190625"/>
              </a:lnTo>
              <a:lnTo>
                <a:pt x="2441575" y="1216025"/>
              </a:lnTo>
              <a:lnTo>
                <a:pt x="2771775" y="1219200"/>
              </a:lnTo>
              <a:lnTo>
                <a:pt x="2847975" y="1225550"/>
              </a:lnTo>
            </a:path>
          </a:pathLst>
        </a:custGeom>
        <a:noFill xmlns:a="http://schemas.openxmlformats.org/drawingml/2006/main"/>
        <a:ln xmlns:a="http://schemas.openxmlformats.org/drawingml/2006/main" w="28575"/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0.09859</cdr:x>
      <cdr:y>0.11321</cdr:y>
    </cdr:from>
    <cdr:to>
      <cdr:x>0.93615</cdr:x>
      <cdr:y>0.5601</cdr:y>
    </cdr:to>
    <cdr:sp macro="" textlink="">
      <cdr:nvSpPr>
        <cdr:cNvPr id="4" name="Freeform 3"/>
        <cdr:cNvSpPr/>
      </cdr:nvSpPr>
      <cdr:spPr>
        <a:xfrm xmlns:a="http://schemas.openxmlformats.org/drawingml/2006/main">
          <a:off x="333375" y="254794"/>
          <a:ext cx="2832100" cy="1005840"/>
        </a:xfrm>
        <a:custGeom xmlns:a="http://schemas.openxmlformats.org/drawingml/2006/main">
          <a:avLst/>
          <a:gdLst>
            <a:gd name="connsiteX0" fmla="*/ 0 w 2781300"/>
            <a:gd name="connsiteY0" fmla="*/ 0 h 863600"/>
            <a:gd name="connsiteX1" fmla="*/ 63500 w 2781300"/>
            <a:gd name="connsiteY1" fmla="*/ 66675 h 863600"/>
            <a:gd name="connsiteX2" fmla="*/ 104775 w 2781300"/>
            <a:gd name="connsiteY2" fmla="*/ 111125 h 863600"/>
            <a:gd name="connsiteX3" fmla="*/ 142875 w 2781300"/>
            <a:gd name="connsiteY3" fmla="*/ 196850 h 863600"/>
            <a:gd name="connsiteX4" fmla="*/ 206375 w 2781300"/>
            <a:gd name="connsiteY4" fmla="*/ 225425 h 863600"/>
            <a:gd name="connsiteX5" fmla="*/ 282575 w 2781300"/>
            <a:gd name="connsiteY5" fmla="*/ 342900 h 863600"/>
            <a:gd name="connsiteX6" fmla="*/ 339725 w 2781300"/>
            <a:gd name="connsiteY6" fmla="*/ 431800 h 863600"/>
            <a:gd name="connsiteX7" fmla="*/ 409575 w 2781300"/>
            <a:gd name="connsiteY7" fmla="*/ 457200 h 863600"/>
            <a:gd name="connsiteX8" fmla="*/ 460375 w 2781300"/>
            <a:gd name="connsiteY8" fmla="*/ 571500 h 863600"/>
            <a:gd name="connsiteX9" fmla="*/ 542925 w 2781300"/>
            <a:gd name="connsiteY9" fmla="*/ 650875 h 863600"/>
            <a:gd name="connsiteX10" fmla="*/ 644525 w 2781300"/>
            <a:gd name="connsiteY10" fmla="*/ 727075 h 863600"/>
            <a:gd name="connsiteX11" fmla="*/ 809625 w 2781300"/>
            <a:gd name="connsiteY11" fmla="*/ 727075 h 863600"/>
            <a:gd name="connsiteX12" fmla="*/ 863600 w 2781300"/>
            <a:gd name="connsiteY12" fmla="*/ 762000 h 863600"/>
            <a:gd name="connsiteX13" fmla="*/ 1022350 w 2781300"/>
            <a:gd name="connsiteY13" fmla="*/ 815975 h 863600"/>
            <a:gd name="connsiteX14" fmla="*/ 1149350 w 2781300"/>
            <a:gd name="connsiteY14" fmla="*/ 860425 h 863600"/>
            <a:gd name="connsiteX15" fmla="*/ 1371600 w 2781300"/>
            <a:gd name="connsiteY15" fmla="*/ 863600 h 863600"/>
            <a:gd name="connsiteX16" fmla="*/ 1428750 w 2781300"/>
            <a:gd name="connsiteY16" fmla="*/ 825500 h 863600"/>
            <a:gd name="connsiteX17" fmla="*/ 1609725 w 2781300"/>
            <a:gd name="connsiteY17" fmla="*/ 812800 h 863600"/>
            <a:gd name="connsiteX18" fmla="*/ 1717675 w 2781300"/>
            <a:gd name="connsiteY18" fmla="*/ 739775 h 863600"/>
            <a:gd name="connsiteX19" fmla="*/ 1847850 w 2781300"/>
            <a:gd name="connsiteY19" fmla="*/ 682625 h 863600"/>
            <a:gd name="connsiteX20" fmla="*/ 1924050 w 2781300"/>
            <a:gd name="connsiteY20" fmla="*/ 657225 h 863600"/>
            <a:gd name="connsiteX21" fmla="*/ 2041525 w 2781300"/>
            <a:gd name="connsiteY21" fmla="*/ 625475 h 863600"/>
            <a:gd name="connsiteX22" fmla="*/ 2111375 w 2781300"/>
            <a:gd name="connsiteY22" fmla="*/ 546100 h 863600"/>
            <a:gd name="connsiteX23" fmla="*/ 2200275 w 2781300"/>
            <a:gd name="connsiteY23" fmla="*/ 479425 h 863600"/>
            <a:gd name="connsiteX24" fmla="*/ 2244725 w 2781300"/>
            <a:gd name="connsiteY24" fmla="*/ 431800 h 863600"/>
            <a:gd name="connsiteX25" fmla="*/ 2359025 w 2781300"/>
            <a:gd name="connsiteY25" fmla="*/ 384175 h 863600"/>
            <a:gd name="connsiteX26" fmla="*/ 2524125 w 2781300"/>
            <a:gd name="connsiteY26" fmla="*/ 358775 h 863600"/>
            <a:gd name="connsiteX27" fmla="*/ 2679700 w 2781300"/>
            <a:gd name="connsiteY27" fmla="*/ 314325 h 863600"/>
            <a:gd name="connsiteX28" fmla="*/ 2781300 w 2781300"/>
            <a:gd name="connsiteY28" fmla="*/ 292100 h 86360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  <a:cxn ang="0">
              <a:pos x="connsiteX27" y="connsiteY27"/>
            </a:cxn>
            <a:cxn ang="0">
              <a:pos x="connsiteX28" y="connsiteY28"/>
            </a:cxn>
          </a:cxnLst>
          <a:rect l="l" t="t" r="r" b="b"/>
          <a:pathLst>
            <a:path w="2781300" h="863600">
              <a:moveTo>
                <a:pt x="0" y="0"/>
              </a:moveTo>
              <a:lnTo>
                <a:pt x="63500" y="66675"/>
              </a:lnTo>
              <a:lnTo>
                <a:pt x="104775" y="111125"/>
              </a:lnTo>
              <a:lnTo>
                <a:pt x="142875" y="196850"/>
              </a:lnTo>
              <a:lnTo>
                <a:pt x="206375" y="225425"/>
              </a:lnTo>
              <a:lnTo>
                <a:pt x="282575" y="342900"/>
              </a:lnTo>
              <a:lnTo>
                <a:pt x="339725" y="431800"/>
              </a:lnTo>
              <a:lnTo>
                <a:pt x="409575" y="457200"/>
              </a:lnTo>
              <a:lnTo>
                <a:pt x="460375" y="571500"/>
              </a:lnTo>
              <a:lnTo>
                <a:pt x="542925" y="650875"/>
              </a:lnTo>
              <a:lnTo>
                <a:pt x="644525" y="727075"/>
              </a:lnTo>
              <a:lnTo>
                <a:pt x="809625" y="727075"/>
              </a:lnTo>
              <a:lnTo>
                <a:pt x="863600" y="762000"/>
              </a:lnTo>
              <a:lnTo>
                <a:pt x="1022350" y="815975"/>
              </a:lnTo>
              <a:lnTo>
                <a:pt x="1149350" y="860425"/>
              </a:lnTo>
              <a:lnTo>
                <a:pt x="1371600" y="863600"/>
              </a:lnTo>
              <a:lnTo>
                <a:pt x="1428750" y="825500"/>
              </a:lnTo>
              <a:lnTo>
                <a:pt x="1609725" y="812800"/>
              </a:lnTo>
              <a:lnTo>
                <a:pt x="1717675" y="739775"/>
              </a:lnTo>
              <a:lnTo>
                <a:pt x="1847850" y="682625"/>
              </a:lnTo>
              <a:lnTo>
                <a:pt x="1924050" y="657225"/>
              </a:lnTo>
              <a:lnTo>
                <a:pt x="2041525" y="625475"/>
              </a:lnTo>
              <a:lnTo>
                <a:pt x="2111375" y="546100"/>
              </a:lnTo>
              <a:lnTo>
                <a:pt x="2200275" y="479425"/>
              </a:lnTo>
              <a:lnTo>
                <a:pt x="2244725" y="431800"/>
              </a:lnTo>
              <a:lnTo>
                <a:pt x="2359025" y="384175"/>
              </a:lnTo>
              <a:lnTo>
                <a:pt x="2524125" y="358775"/>
              </a:lnTo>
              <a:lnTo>
                <a:pt x="2679700" y="314325"/>
              </a:lnTo>
              <a:lnTo>
                <a:pt x="2781300" y="292100"/>
              </a:lnTo>
            </a:path>
          </a:pathLst>
        </a:custGeom>
        <a:noFill xmlns:a="http://schemas.openxmlformats.org/drawingml/2006/main"/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0.09765</cdr:x>
      <cdr:y>0.13578</cdr:y>
    </cdr:from>
    <cdr:to>
      <cdr:x>0.93991</cdr:x>
      <cdr:y>0.68029</cdr:y>
    </cdr:to>
    <cdr:sp macro="" textlink="">
      <cdr:nvSpPr>
        <cdr:cNvPr id="3" name="Freeform 2"/>
        <cdr:cNvSpPr/>
      </cdr:nvSpPr>
      <cdr:spPr>
        <a:xfrm xmlns:a="http://schemas.openxmlformats.org/drawingml/2006/main">
          <a:off x="330200" y="305594"/>
          <a:ext cx="2847975" cy="1225550"/>
        </a:xfrm>
        <a:custGeom xmlns:a="http://schemas.openxmlformats.org/drawingml/2006/main">
          <a:avLst/>
          <a:gdLst>
            <a:gd name="connsiteX0" fmla="*/ 0 w 2847975"/>
            <a:gd name="connsiteY0" fmla="*/ 0 h 1225550"/>
            <a:gd name="connsiteX1" fmla="*/ 34925 w 2847975"/>
            <a:gd name="connsiteY1" fmla="*/ 82550 h 1225550"/>
            <a:gd name="connsiteX2" fmla="*/ 60325 w 2847975"/>
            <a:gd name="connsiteY2" fmla="*/ 165100 h 1225550"/>
            <a:gd name="connsiteX3" fmla="*/ 107950 w 2847975"/>
            <a:gd name="connsiteY3" fmla="*/ 250825 h 1225550"/>
            <a:gd name="connsiteX4" fmla="*/ 149225 w 2847975"/>
            <a:gd name="connsiteY4" fmla="*/ 311150 h 1225550"/>
            <a:gd name="connsiteX5" fmla="*/ 203200 w 2847975"/>
            <a:gd name="connsiteY5" fmla="*/ 377825 h 1225550"/>
            <a:gd name="connsiteX6" fmla="*/ 215900 w 2847975"/>
            <a:gd name="connsiteY6" fmla="*/ 419100 h 1225550"/>
            <a:gd name="connsiteX7" fmla="*/ 273050 w 2847975"/>
            <a:gd name="connsiteY7" fmla="*/ 501650 h 1225550"/>
            <a:gd name="connsiteX8" fmla="*/ 307975 w 2847975"/>
            <a:gd name="connsiteY8" fmla="*/ 574675 h 1225550"/>
            <a:gd name="connsiteX9" fmla="*/ 365125 w 2847975"/>
            <a:gd name="connsiteY9" fmla="*/ 666750 h 1225550"/>
            <a:gd name="connsiteX10" fmla="*/ 441325 w 2847975"/>
            <a:gd name="connsiteY10" fmla="*/ 708025 h 1225550"/>
            <a:gd name="connsiteX11" fmla="*/ 501650 w 2847975"/>
            <a:gd name="connsiteY11" fmla="*/ 762000 h 1225550"/>
            <a:gd name="connsiteX12" fmla="*/ 555625 w 2847975"/>
            <a:gd name="connsiteY12" fmla="*/ 793750 h 1225550"/>
            <a:gd name="connsiteX13" fmla="*/ 600075 w 2847975"/>
            <a:gd name="connsiteY13" fmla="*/ 847725 h 1225550"/>
            <a:gd name="connsiteX14" fmla="*/ 692150 w 2847975"/>
            <a:gd name="connsiteY14" fmla="*/ 898525 h 1225550"/>
            <a:gd name="connsiteX15" fmla="*/ 758825 w 2847975"/>
            <a:gd name="connsiteY15" fmla="*/ 936625 h 1225550"/>
            <a:gd name="connsiteX16" fmla="*/ 898525 w 2847975"/>
            <a:gd name="connsiteY16" fmla="*/ 1000125 h 1225550"/>
            <a:gd name="connsiteX17" fmla="*/ 981075 w 2847975"/>
            <a:gd name="connsiteY17" fmla="*/ 1044575 h 1225550"/>
            <a:gd name="connsiteX18" fmla="*/ 1082675 w 2847975"/>
            <a:gd name="connsiteY18" fmla="*/ 1092200 h 1225550"/>
            <a:gd name="connsiteX19" fmla="*/ 1235075 w 2847975"/>
            <a:gd name="connsiteY19" fmla="*/ 1133475 h 1225550"/>
            <a:gd name="connsiteX20" fmla="*/ 1349375 w 2847975"/>
            <a:gd name="connsiteY20" fmla="*/ 1149350 h 1225550"/>
            <a:gd name="connsiteX21" fmla="*/ 1625600 w 2847975"/>
            <a:gd name="connsiteY21" fmla="*/ 1162050 h 1225550"/>
            <a:gd name="connsiteX22" fmla="*/ 1873250 w 2847975"/>
            <a:gd name="connsiteY22" fmla="*/ 1184275 h 1225550"/>
            <a:gd name="connsiteX23" fmla="*/ 2184400 w 2847975"/>
            <a:gd name="connsiteY23" fmla="*/ 1190625 h 1225550"/>
            <a:gd name="connsiteX24" fmla="*/ 2441575 w 2847975"/>
            <a:gd name="connsiteY24" fmla="*/ 1216025 h 1225550"/>
            <a:gd name="connsiteX25" fmla="*/ 2771775 w 2847975"/>
            <a:gd name="connsiteY25" fmla="*/ 1219200 h 1225550"/>
            <a:gd name="connsiteX26" fmla="*/ 2847975 w 2847975"/>
            <a:gd name="connsiteY26" fmla="*/ 1225550 h 122555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</a:cxnLst>
          <a:rect l="l" t="t" r="r" b="b"/>
          <a:pathLst>
            <a:path w="2847975" h="1225550">
              <a:moveTo>
                <a:pt x="0" y="0"/>
              </a:moveTo>
              <a:lnTo>
                <a:pt x="34925" y="82550"/>
              </a:lnTo>
              <a:lnTo>
                <a:pt x="60325" y="165100"/>
              </a:lnTo>
              <a:lnTo>
                <a:pt x="107950" y="250825"/>
              </a:lnTo>
              <a:lnTo>
                <a:pt x="149225" y="311150"/>
              </a:lnTo>
              <a:lnTo>
                <a:pt x="203200" y="377825"/>
              </a:lnTo>
              <a:lnTo>
                <a:pt x="215900" y="419100"/>
              </a:lnTo>
              <a:lnTo>
                <a:pt x="273050" y="501650"/>
              </a:lnTo>
              <a:lnTo>
                <a:pt x="307975" y="574675"/>
              </a:lnTo>
              <a:lnTo>
                <a:pt x="365125" y="666750"/>
              </a:lnTo>
              <a:lnTo>
                <a:pt x="441325" y="708025"/>
              </a:lnTo>
              <a:lnTo>
                <a:pt x="501650" y="762000"/>
              </a:lnTo>
              <a:lnTo>
                <a:pt x="555625" y="793750"/>
              </a:lnTo>
              <a:lnTo>
                <a:pt x="600075" y="847725"/>
              </a:lnTo>
              <a:lnTo>
                <a:pt x="692150" y="898525"/>
              </a:lnTo>
              <a:lnTo>
                <a:pt x="758825" y="936625"/>
              </a:lnTo>
              <a:lnTo>
                <a:pt x="898525" y="1000125"/>
              </a:lnTo>
              <a:lnTo>
                <a:pt x="981075" y="1044575"/>
              </a:lnTo>
              <a:lnTo>
                <a:pt x="1082675" y="1092200"/>
              </a:lnTo>
              <a:lnTo>
                <a:pt x="1235075" y="1133475"/>
              </a:lnTo>
              <a:lnTo>
                <a:pt x="1349375" y="1149350"/>
              </a:lnTo>
              <a:lnTo>
                <a:pt x="1625600" y="1162050"/>
              </a:lnTo>
              <a:lnTo>
                <a:pt x="1873250" y="1184275"/>
              </a:lnTo>
              <a:lnTo>
                <a:pt x="2184400" y="1190625"/>
              </a:lnTo>
              <a:lnTo>
                <a:pt x="2441575" y="1216025"/>
              </a:lnTo>
              <a:lnTo>
                <a:pt x="2771775" y="1219200"/>
              </a:lnTo>
              <a:lnTo>
                <a:pt x="2847975" y="1225550"/>
              </a:lnTo>
            </a:path>
          </a:pathLst>
        </a:custGeom>
        <a:noFill xmlns:a="http://schemas.openxmlformats.org/drawingml/2006/main"/>
        <a:ln xmlns:a="http://schemas.openxmlformats.org/drawingml/2006/main" w="28575"/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0.09859</cdr:x>
      <cdr:y>0.11321</cdr:y>
    </cdr:from>
    <cdr:to>
      <cdr:x>0.93615</cdr:x>
      <cdr:y>0.5601</cdr:y>
    </cdr:to>
    <cdr:sp macro="" textlink="">
      <cdr:nvSpPr>
        <cdr:cNvPr id="4" name="Freeform 3"/>
        <cdr:cNvSpPr/>
      </cdr:nvSpPr>
      <cdr:spPr>
        <a:xfrm xmlns:a="http://schemas.openxmlformats.org/drawingml/2006/main">
          <a:off x="333375" y="254794"/>
          <a:ext cx="2832100" cy="1005840"/>
        </a:xfrm>
        <a:custGeom xmlns:a="http://schemas.openxmlformats.org/drawingml/2006/main">
          <a:avLst/>
          <a:gdLst>
            <a:gd name="connsiteX0" fmla="*/ 0 w 2781300"/>
            <a:gd name="connsiteY0" fmla="*/ 0 h 863600"/>
            <a:gd name="connsiteX1" fmla="*/ 63500 w 2781300"/>
            <a:gd name="connsiteY1" fmla="*/ 66675 h 863600"/>
            <a:gd name="connsiteX2" fmla="*/ 104775 w 2781300"/>
            <a:gd name="connsiteY2" fmla="*/ 111125 h 863600"/>
            <a:gd name="connsiteX3" fmla="*/ 142875 w 2781300"/>
            <a:gd name="connsiteY3" fmla="*/ 196850 h 863600"/>
            <a:gd name="connsiteX4" fmla="*/ 206375 w 2781300"/>
            <a:gd name="connsiteY4" fmla="*/ 225425 h 863600"/>
            <a:gd name="connsiteX5" fmla="*/ 282575 w 2781300"/>
            <a:gd name="connsiteY5" fmla="*/ 342900 h 863600"/>
            <a:gd name="connsiteX6" fmla="*/ 339725 w 2781300"/>
            <a:gd name="connsiteY6" fmla="*/ 431800 h 863600"/>
            <a:gd name="connsiteX7" fmla="*/ 409575 w 2781300"/>
            <a:gd name="connsiteY7" fmla="*/ 457200 h 863600"/>
            <a:gd name="connsiteX8" fmla="*/ 460375 w 2781300"/>
            <a:gd name="connsiteY8" fmla="*/ 571500 h 863600"/>
            <a:gd name="connsiteX9" fmla="*/ 542925 w 2781300"/>
            <a:gd name="connsiteY9" fmla="*/ 650875 h 863600"/>
            <a:gd name="connsiteX10" fmla="*/ 644525 w 2781300"/>
            <a:gd name="connsiteY10" fmla="*/ 727075 h 863600"/>
            <a:gd name="connsiteX11" fmla="*/ 809625 w 2781300"/>
            <a:gd name="connsiteY11" fmla="*/ 727075 h 863600"/>
            <a:gd name="connsiteX12" fmla="*/ 863600 w 2781300"/>
            <a:gd name="connsiteY12" fmla="*/ 762000 h 863600"/>
            <a:gd name="connsiteX13" fmla="*/ 1022350 w 2781300"/>
            <a:gd name="connsiteY13" fmla="*/ 815975 h 863600"/>
            <a:gd name="connsiteX14" fmla="*/ 1149350 w 2781300"/>
            <a:gd name="connsiteY14" fmla="*/ 860425 h 863600"/>
            <a:gd name="connsiteX15" fmla="*/ 1371600 w 2781300"/>
            <a:gd name="connsiteY15" fmla="*/ 863600 h 863600"/>
            <a:gd name="connsiteX16" fmla="*/ 1428750 w 2781300"/>
            <a:gd name="connsiteY16" fmla="*/ 825500 h 863600"/>
            <a:gd name="connsiteX17" fmla="*/ 1609725 w 2781300"/>
            <a:gd name="connsiteY17" fmla="*/ 812800 h 863600"/>
            <a:gd name="connsiteX18" fmla="*/ 1717675 w 2781300"/>
            <a:gd name="connsiteY18" fmla="*/ 739775 h 863600"/>
            <a:gd name="connsiteX19" fmla="*/ 1847850 w 2781300"/>
            <a:gd name="connsiteY19" fmla="*/ 682625 h 863600"/>
            <a:gd name="connsiteX20" fmla="*/ 1924050 w 2781300"/>
            <a:gd name="connsiteY20" fmla="*/ 657225 h 863600"/>
            <a:gd name="connsiteX21" fmla="*/ 2041525 w 2781300"/>
            <a:gd name="connsiteY21" fmla="*/ 625475 h 863600"/>
            <a:gd name="connsiteX22" fmla="*/ 2111375 w 2781300"/>
            <a:gd name="connsiteY22" fmla="*/ 546100 h 863600"/>
            <a:gd name="connsiteX23" fmla="*/ 2200275 w 2781300"/>
            <a:gd name="connsiteY23" fmla="*/ 479425 h 863600"/>
            <a:gd name="connsiteX24" fmla="*/ 2244725 w 2781300"/>
            <a:gd name="connsiteY24" fmla="*/ 431800 h 863600"/>
            <a:gd name="connsiteX25" fmla="*/ 2359025 w 2781300"/>
            <a:gd name="connsiteY25" fmla="*/ 384175 h 863600"/>
            <a:gd name="connsiteX26" fmla="*/ 2524125 w 2781300"/>
            <a:gd name="connsiteY26" fmla="*/ 358775 h 863600"/>
            <a:gd name="connsiteX27" fmla="*/ 2679700 w 2781300"/>
            <a:gd name="connsiteY27" fmla="*/ 314325 h 863600"/>
            <a:gd name="connsiteX28" fmla="*/ 2781300 w 2781300"/>
            <a:gd name="connsiteY28" fmla="*/ 292100 h 86360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  <a:cxn ang="0">
              <a:pos x="connsiteX27" y="connsiteY27"/>
            </a:cxn>
            <a:cxn ang="0">
              <a:pos x="connsiteX28" y="connsiteY28"/>
            </a:cxn>
          </a:cxnLst>
          <a:rect l="l" t="t" r="r" b="b"/>
          <a:pathLst>
            <a:path w="2781300" h="863600">
              <a:moveTo>
                <a:pt x="0" y="0"/>
              </a:moveTo>
              <a:lnTo>
                <a:pt x="63500" y="66675"/>
              </a:lnTo>
              <a:lnTo>
                <a:pt x="104775" y="111125"/>
              </a:lnTo>
              <a:lnTo>
                <a:pt x="142875" y="196850"/>
              </a:lnTo>
              <a:lnTo>
                <a:pt x="206375" y="225425"/>
              </a:lnTo>
              <a:lnTo>
                <a:pt x="282575" y="342900"/>
              </a:lnTo>
              <a:lnTo>
                <a:pt x="339725" y="431800"/>
              </a:lnTo>
              <a:lnTo>
                <a:pt x="409575" y="457200"/>
              </a:lnTo>
              <a:lnTo>
                <a:pt x="460375" y="571500"/>
              </a:lnTo>
              <a:lnTo>
                <a:pt x="542925" y="650875"/>
              </a:lnTo>
              <a:lnTo>
                <a:pt x="644525" y="727075"/>
              </a:lnTo>
              <a:lnTo>
                <a:pt x="809625" y="727075"/>
              </a:lnTo>
              <a:lnTo>
                <a:pt x="863600" y="762000"/>
              </a:lnTo>
              <a:lnTo>
                <a:pt x="1022350" y="815975"/>
              </a:lnTo>
              <a:lnTo>
                <a:pt x="1149350" y="860425"/>
              </a:lnTo>
              <a:lnTo>
                <a:pt x="1371600" y="863600"/>
              </a:lnTo>
              <a:lnTo>
                <a:pt x="1428750" y="825500"/>
              </a:lnTo>
              <a:lnTo>
                <a:pt x="1609725" y="812800"/>
              </a:lnTo>
              <a:lnTo>
                <a:pt x="1717675" y="739775"/>
              </a:lnTo>
              <a:lnTo>
                <a:pt x="1847850" y="682625"/>
              </a:lnTo>
              <a:lnTo>
                <a:pt x="1924050" y="657225"/>
              </a:lnTo>
              <a:lnTo>
                <a:pt x="2041525" y="625475"/>
              </a:lnTo>
              <a:lnTo>
                <a:pt x="2111375" y="546100"/>
              </a:lnTo>
              <a:lnTo>
                <a:pt x="2200275" y="479425"/>
              </a:lnTo>
              <a:lnTo>
                <a:pt x="2244725" y="431800"/>
              </a:lnTo>
              <a:lnTo>
                <a:pt x="2359025" y="384175"/>
              </a:lnTo>
              <a:lnTo>
                <a:pt x="2524125" y="358775"/>
              </a:lnTo>
              <a:lnTo>
                <a:pt x="2679700" y="314325"/>
              </a:lnTo>
              <a:lnTo>
                <a:pt x="2781300" y="292100"/>
              </a:lnTo>
            </a:path>
          </a:pathLst>
        </a:custGeom>
        <a:noFill xmlns:a="http://schemas.openxmlformats.org/drawingml/2006/main"/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0.09765</cdr:x>
      <cdr:y>0.13578</cdr:y>
    </cdr:from>
    <cdr:to>
      <cdr:x>0.93991</cdr:x>
      <cdr:y>0.68029</cdr:y>
    </cdr:to>
    <cdr:sp macro="" textlink="">
      <cdr:nvSpPr>
        <cdr:cNvPr id="3" name="Freeform 2"/>
        <cdr:cNvSpPr/>
      </cdr:nvSpPr>
      <cdr:spPr>
        <a:xfrm xmlns:a="http://schemas.openxmlformats.org/drawingml/2006/main">
          <a:off x="330200" y="305594"/>
          <a:ext cx="2847975" cy="1225550"/>
        </a:xfrm>
        <a:custGeom xmlns:a="http://schemas.openxmlformats.org/drawingml/2006/main">
          <a:avLst/>
          <a:gdLst>
            <a:gd name="connsiteX0" fmla="*/ 0 w 2847975"/>
            <a:gd name="connsiteY0" fmla="*/ 0 h 1225550"/>
            <a:gd name="connsiteX1" fmla="*/ 34925 w 2847975"/>
            <a:gd name="connsiteY1" fmla="*/ 82550 h 1225550"/>
            <a:gd name="connsiteX2" fmla="*/ 60325 w 2847975"/>
            <a:gd name="connsiteY2" fmla="*/ 165100 h 1225550"/>
            <a:gd name="connsiteX3" fmla="*/ 107950 w 2847975"/>
            <a:gd name="connsiteY3" fmla="*/ 250825 h 1225550"/>
            <a:gd name="connsiteX4" fmla="*/ 149225 w 2847975"/>
            <a:gd name="connsiteY4" fmla="*/ 311150 h 1225550"/>
            <a:gd name="connsiteX5" fmla="*/ 203200 w 2847975"/>
            <a:gd name="connsiteY5" fmla="*/ 377825 h 1225550"/>
            <a:gd name="connsiteX6" fmla="*/ 215900 w 2847975"/>
            <a:gd name="connsiteY6" fmla="*/ 419100 h 1225550"/>
            <a:gd name="connsiteX7" fmla="*/ 273050 w 2847975"/>
            <a:gd name="connsiteY7" fmla="*/ 501650 h 1225550"/>
            <a:gd name="connsiteX8" fmla="*/ 307975 w 2847975"/>
            <a:gd name="connsiteY8" fmla="*/ 574675 h 1225550"/>
            <a:gd name="connsiteX9" fmla="*/ 365125 w 2847975"/>
            <a:gd name="connsiteY9" fmla="*/ 666750 h 1225550"/>
            <a:gd name="connsiteX10" fmla="*/ 441325 w 2847975"/>
            <a:gd name="connsiteY10" fmla="*/ 708025 h 1225550"/>
            <a:gd name="connsiteX11" fmla="*/ 501650 w 2847975"/>
            <a:gd name="connsiteY11" fmla="*/ 762000 h 1225550"/>
            <a:gd name="connsiteX12" fmla="*/ 555625 w 2847975"/>
            <a:gd name="connsiteY12" fmla="*/ 793750 h 1225550"/>
            <a:gd name="connsiteX13" fmla="*/ 600075 w 2847975"/>
            <a:gd name="connsiteY13" fmla="*/ 847725 h 1225550"/>
            <a:gd name="connsiteX14" fmla="*/ 692150 w 2847975"/>
            <a:gd name="connsiteY14" fmla="*/ 898525 h 1225550"/>
            <a:gd name="connsiteX15" fmla="*/ 758825 w 2847975"/>
            <a:gd name="connsiteY15" fmla="*/ 936625 h 1225550"/>
            <a:gd name="connsiteX16" fmla="*/ 898525 w 2847975"/>
            <a:gd name="connsiteY16" fmla="*/ 1000125 h 1225550"/>
            <a:gd name="connsiteX17" fmla="*/ 981075 w 2847975"/>
            <a:gd name="connsiteY17" fmla="*/ 1044575 h 1225550"/>
            <a:gd name="connsiteX18" fmla="*/ 1082675 w 2847975"/>
            <a:gd name="connsiteY18" fmla="*/ 1092200 h 1225550"/>
            <a:gd name="connsiteX19" fmla="*/ 1235075 w 2847975"/>
            <a:gd name="connsiteY19" fmla="*/ 1133475 h 1225550"/>
            <a:gd name="connsiteX20" fmla="*/ 1349375 w 2847975"/>
            <a:gd name="connsiteY20" fmla="*/ 1149350 h 1225550"/>
            <a:gd name="connsiteX21" fmla="*/ 1625600 w 2847975"/>
            <a:gd name="connsiteY21" fmla="*/ 1162050 h 1225550"/>
            <a:gd name="connsiteX22" fmla="*/ 1873250 w 2847975"/>
            <a:gd name="connsiteY22" fmla="*/ 1184275 h 1225550"/>
            <a:gd name="connsiteX23" fmla="*/ 2184400 w 2847975"/>
            <a:gd name="connsiteY23" fmla="*/ 1190625 h 1225550"/>
            <a:gd name="connsiteX24" fmla="*/ 2441575 w 2847975"/>
            <a:gd name="connsiteY24" fmla="*/ 1216025 h 1225550"/>
            <a:gd name="connsiteX25" fmla="*/ 2771775 w 2847975"/>
            <a:gd name="connsiteY25" fmla="*/ 1219200 h 1225550"/>
            <a:gd name="connsiteX26" fmla="*/ 2847975 w 2847975"/>
            <a:gd name="connsiteY26" fmla="*/ 1225550 h 122555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</a:cxnLst>
          <a:rect l="l" t="t" r="r" b="b"/>
          <a:pathLst>
            <a:path w="2847975" h="1225550">
              <a:moveTo>
                <a:pt x="0" y="0"/>
              </a:moveTo>
              <a:lnTo>
                <a:pt x="34925" y="82550"/>
              </a:lnTo>
              <a:lnTo>
                <a:pt x="60325" y="165100"/>
              </a:lnTo>
              <a:lnTo>
                <a:pt x="107950" y="250825"/>
              </a:lnTo>
              <a:lnTo>
                <a:pt x="149225" y="311150"/>
              </a:lnTo>
              <a:lnTo>
                <a:pt x="203200" y="377825"/>
              </a:lnTo>
              <a:lnTo>
                <a:pt x="215900" y="419100"/>
              </a:lnTo>
              <a:lnTo>
                <a:pt x="273050" y="501650"/>
              </a:lnTo>
              <a:lnTo>
                <a:pt x="307975" y="574675"/>
              </a:lnTo>
              <a:lnTo>
                <a:pt x="365125" y="666750"/>
              </a:lnTo>
              <a:lnTo>
                <a:pt x="441325" y="708025"/>
              </a:lnTo>
              <a:lnTo>
                <a:pt x="501650" y="762000"/>
              </a:lnTo>
              <a:lnTo>
                <a:pt x="555625" y="793750"/>
              </a:lnTo>
              <a:lnTo>
                <a:pt x="600075" y="847725"/>
              </a:lnTo>
              <a:lnTo>
                <a:pt x="692150" y="898525"/>
              </a:lnTo>
              <a:lnTo>
                <a:pt x="758825" y="936625"/>
              </a:lnTo>
              <a:lnTo>
                <a:pt x="898525" y="1000125"/>
              </a:lnTo>
              <a:lnTo>
                <a:pt x="981075" y="1044575"/>
              </a:lnTo>
              <a:lnTo>
                <a:pt x="1082675" y="1092200"/>
              </a:lnTo>
              <a:lnTo>
                <a:pt x="1235075" y="1133475"/>
              </a:lnTo>
              <a:lnTo>
                <a:pt x="1349375" y="1149350"/>
              </a:lnTo>
              <a:lnTo>
                <a:pt x="1625600" y="1162050"/>
              </a:lnTo>
              <a:lnTo>
                <a:pt x="1873250" y="1184275"/>
              </a:lnTo>
              <a:lnTo>
                <a:pt x="2184400" y="1190625"/>
              </a:lnTo>
              <a:lnTo>
                <a:pt x="2441575" y="1216025"/>
              </a:lnTo>
              <a:lnTo>
                <a:pt x="2771775" y="1219200"/>
              </a:lnTo>
              <a:lnTo>
                <a:pt x="2847975" y="1225550"/>
              </a:lnTo>
            </a:path>
          </a:pathLst>
        </a:custGeom>
        <a:noFill xmlns:a="http://schemas.openxmlformats.org/drawingml/2006/main"/>
        <a:ln xmlns:a="http://schemas.openxmlformats.org/drawingml/2006/main" w="28575"/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0.09859</cdr:x>
      <cdr:y>0.11321</cdr:y>
    </cdr:from>
    <cdr:to>
      <cdr:x>0.93615</cdr:x>
      <cdr:y>0.5601</cdr:y>
    </cdr:to>
    <cdr:sp macro="" textlink="">
      <cdr:nvSpPr>
        <cdr:cNvPr id="4" name="Freeform 3"/>
        <cdr:cNvSpPr/>
      </cdr:nvSpPr>
      <cdr:spPr>
        <a:xfrm xmlns:a="http://schemas.openxmlformats.org/drawingml/2006/main">
          <a:off x="333375" y="254794"/>
          <a:ext cx="2832100" cy="1005840"/>
        </a:xfrm>
        <a:custGeom xmlns:a="http://schemas.openxmlformats.org/drawingml/2006/main">
          <a:avLst/>
          <a:gdLst>
            <a:gd name="connsiteX0" fmla="*/ 0 w 2781300"/>
            <a:gd name="connsiteY0" fmla="*/ 0 h 863600"/>
            <a:gd name="connsiteX1" fmla="*/ 63500 w 2781300"/>
            <a:gd name="connsiteY1" fmla="*/ 66675 h 863600"/>
            <a:gd name="connsiteX2" fmla="*/ 104775 w 2781300"/>
            <a:gd name="connsiteY2" fmla="*/ 111125 h 863600"/>
            <a:gd name="connsiteX3" fmla="*/ 142875 w 2781300"/>
            <a:gd name="connsiteY3" fmla="*/ 196850 h 863600"/>
            <a:gd name="connsiteX4" fmla="*/ 206375 w 2781300"/>
            <a:gd name="connsiteY4" fmla="*/ 225425 h 863600"/>
            <a:gd name="connsiteX5" fmla="*/ 282575 w 2781300"/>
            <a:gd name="connsiteY5" fmla="*/ 342900 h 863600"/>
            <a:gd name="connsiteX6" fmla="*/ 339725 w 2781300"/>
            <a:gd name="connsiteY6" fmla="*/ 431800 h 863600"/>
            <a:gd name="connsiteX7" fmla="*/ 409575 w 2781300"/>
            <a:gd name="connsiteY7" fmla="*/ 457200 h 863600"/>
            <a:gd name="connsiteX8" fmla="*/ 460375 w 2781300"/>
            <a:gd name="connsiteY8" fmla="*/ 571500 h 863600"/>
            <a:gd name="connsiteX9" fmla="*/ 542925 w 2781300"/>
            <a:gd name="connsiteY9" fmla="*/ 650875 h 863600"/>
            <a:gd name="connsiteX10" fmla="*/ 644525 w 2781300"/>
            <a:gd name="connsiteY10" fmla="*/ 727075 h 863600"/>
            <a:gd name="connsiteX11" fmla="*/ 809625 w 2781300"/>
            <a:gd name="connsiteY11" fmla="*/ 727075 h 863600"/>
            <a:gd name="connsiteX12" fmla="*/ 863600 w 2781300"/>
            <a:gd name="connsiteY12" fmla="*/ 762000 h 863600"/>
            <a:gd name="connsiteX13" fmla="*/ 1022350 w 2781300"/>
            <a:gd name="connsiteY13" fmla="*/ 815975 h 863600"/>
            <a:gd name="connsiteX14" fmla="*/ 1149350 w 2781300"/>
            <a:gd name="connsiteY14" fmla="*/ 860425 h 863600"/>
            <a:gd name="connsiteX15" fmla="*/ 1371600 w 2781300"/>
            <a:gd name="connsiteY15" fmla="*/ 863600 h 863600"/>
            <a:gd name="connsiteX16" fmla="*/ 1428750 w 2781300"/>
            <a:gd name="connsiteY16" fmla="*/ 825500 h 863600"/>
            <a:gd name="connsiteX17" fmla="*/ 1609725 w 2781300"/>
            <a:gd name="connsiteY17" fmla="*/ 812800 h 863600"/>
            <a:gd name="connsiteX18" fmla="*/ 1717675 w 2781300"/>
            <a:gd name="connsiteY18" fmla="*/ 739775 h 863600"/>
            <a:gd name="connsiteX19" fmla="*/ 1847850 w 2781300"/>
            <a:gd name="connsiteY19" fmla="*/ 682625 h 863600"/>
            <a:gd name="connsiteX20" fmla="*/ 1924050 w 2781300"/>
            <a:gd name="connsiteY20" fmla="*/ 657225 h 863600"/>
            <a:gd name="connsiteX21" fmla="*/ 2041525 w 2781300"/>
            <a:gd name="connsiteY21" fmla="*/ 625475 h 863600"/>
            <a:gd name="connsiteX22" fmla="*/ 2111375 w 2781300"/>
            <a:gd name="connsiteY22" fmla="*/ 546100 h 863600"/>
            <a:gd name="connsiteX23" fmla="*/ 2200275 w 2781300"/>
            <a:gd name="connsiteY23" fmla="*/ 479425 h 863600"/>
            <a:gd name="connsiteX24" fmla="*/ 2244725 w 2781300"/>
            <a:gd name="connsiteY24" fmla="*/ 431800 h 863600"/>
            <a:gd name="connsiteX25" fmla="*/ 2359025 w 2781300"/>
            <a:gd name="connsiteY25" fmla="*/ 384175 h 863600"/>
            <a:gd name="connsiteX26" fmla="*/ 2524125 w 2781300"/>
            <a:gd name="connsiteY26" fmla="*/ 358775 h 863600"/>
            <a:gd name="connsiteX27" fmla="*/ 2679700 w 2781300"/>
            <a:gd name="connsiteY27" fmla="*/ 314325 h 863600"/>
            <a:gd name="connsiteX28" fmla="*/ 2781300 w 2781300"/>
            <a:gd name="connsiteY28" fmla="*/ 292100 h 86360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  <a:cxn ang="0">
              <a:pos x="connsiteX27" y="connsiteY27"/>
            </a:cxn>
            <a:cxn ang="0">
              <a:pos x="connsiteX28" y="connsiteY28"/>
            </a:cxn>
          </a:cxnLst>
          <a:rect l="l" t="t" r="r" b="b"/>
          <a:pathLst>
            <a:path w="2781300" h="863600">
              <a:moveTo>
                <a:pt x="0" y="0"/>
              </a:moveTo>
              <a:lnTo>
                <a:pt x="63500" y="66675"/>
              </a:lnTo>
              <a:lnTo>
                <a:pt x="104775" y="111125"/>
              </a:lnTo>
              <a:lnTo>
                <a:pt x="142875" y="196850"/>
              </a:lnTo>
              <a:lnTo>
                <a:pt x="206375" y="225425"/>
              </a:lnTo>
              <a:lnTo>
                <a:pt x="282575" y="342900"/>
              </a:lnTo>
              <a:lnTo>
                <a:pt x="339725" y="431800"/>
              </a:lnTo>
              <a:lnTo>
                <a:pt x="409575" y="457200"/>
              </a:lnTo>
              <a:lnTo>
                <a:pt x="460375" y="571500"/>
              </a:lnTo>
              <a:lnTo>
                <a:pt x="542925" y="650875"/>
              </a:lnTo>
              <a:lnTo>
                <a:pt x="644525" y="727075"/>
              </a:lnTo>
              <a:lnTo>
                <a:pt x="809625" y="727075"/>
              </a:lnTo>
              <a:lnTo>
                <a:pt x="863600" y="762000"/>
              </a:lnTo>
              <a:lnTo>
                <a:pt x="1022350" y="815975"/>
              </a:lnTo>
              <a:lnTo>
                <a:pt x="1149350" y="860425"/>
              </a:lnTo>
              <a:lnTo>
                <a:pt x="1371600" y="863600"/>
              </a:lnTo>
              <a:lnTo>
                <a:pt x="1428750" y="825500"/>
              </a:lnTo>
              <a:lnTo>
                <a:pt x="1609725" y="812800"/>
              </a:lnTo>
              <a:lnTo>
                <a:pt x="1717675" y="739775"/>
              </a:lnTo>
              <a:lnTo>
                <a:pt x="1847850" y="682625"/>
              </a:lnTo>
              <a:lnTo>
                <a:pt x="1924050" y="657225"/>
              </a:lnTo>
              <a:lnTo>
                <a:pt x="2041525" y="625475"/>
              </a:lnTo>
              <a:lnTo>
                <a:pt x="2111375" y="546100"/>
              </a:lnTo>
              <a:lnTo>
                <a:pt x="2200275" y="479425"/>
              </a:lnTo>
              <a:lnTo>
                <a:pt x="2244725" y="431800"/>
              </a:lnTo>
              <a:lnTo>
                <a:pt x="2359025" y="384175"/>
              </a:lnTo>
              <a:lnTo>
                <a:pt x="2524125" y="358775"/>
              </a:lnTo>
              <a:lnTo>
                <a:pt x="2679700" y="314325"/>
              </a:lnTo>
              <a:lnTo>
                <a:pt x="2781300" y="292100"/>
              </a:lnTo>
            </a:path>
          </a:pathLst>
        </a:custGeom>
        <a:noFill xmlns:a="http://schemas.openxmlformats.org/drawingml/2006/main"/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0.09765</cdr:x>
      <cdr:y>0.13578</cdr:y>
    </cdr:from>
    <cdr:to>
      <cdr:x>0.93991</cdr:x>
      <cdr:y>0.68029</cdr:y>
    </cdr:to>
    <cdr:sp macro="" textlink="">
      <cdr:nvSpPr>
        <cdr:cNvPr id="3" name="Freeform 2"/>
        <cdr:cNvSpPr/>
      </cdr:nvSpPr>
      <cdr:spPr>
        <a:xfrm xmlns:a="http://schemas.openxmlformats.org/drawingml/2006/main">
          <a:off x="330200" y="305594"/>
          <a:ext cx="2847975" cy="1225550"/>
        </a:xfrm>
        <a:custGeom xmlns:a="http://schemas.openxmlformats.org/drawingml/2006/main">
          <a:avLst/>
          <a:gdLst>
            <a:gd name="connsiteX0" fmla="*/ 0 w 2847975"/>
            <a:gd name="connsiteY0" fmla="*/ 0 h 1225550"/>
            <a:gd name="connsiteX1" fmla="*/ 34925 w 2847975"/>
            <a:gd name="connsiteY1" fmla="*/ 82550 h 1225550"/>
            <a:gd name="connsiteX2" fmla="*/ 60325 w 2847975"/>
            <a:gd name="connsiteY2" fmla="*/ 165100 h 1225550"/>
            <a:gd name="connsiteX3" fmla="*/ 107950 w 2847975"/>
            <a:gd name="connsiteY3" fmla="*/ 250825 h 1225550"/>
            <a:gd name="connsiteX4" fmla="*/ 149225 w 2847975"/>
            <a:gd name="connsiteY4" fmla="*/ 311150 h 1225550"/>
            <a:gd name="connsiteX5" fmla="*/ 203200 w 2847975"/>
            <a:gd name="connsiteY5" fmla="*/ 377825 h 1225550"/>
            <a:gd name="connsiteX6" fmla="*/ 215900 w 2847975"/>
            <a:gd name="connsiteY6" fmla="*/ 419100 h 1225550"/>
            <a:gd name="connsiteX7" fmla="*/ 273050 w 2847975"/>
            <a:gd name="connsiteY7" fmla="*/ 501650 h 1225550"/>
            <a:gd name="connsiteX8" fmla="*/ 307975 w 2847975"/>
            <a:gd name="connsiteY8" fmla="*/ 574675 h 1225550"/>
            <a:gd name="connsiteX9" fmla="*/ 365125 w 2847975"/>
            <a:gd name="connsiteY9" fmla="*/ 666750 h 1225550"/>
            <a:gd name="connsiteX10" fmla="*/ 441325 w 2847975"/>
            <a:gd name="connsiteY10" fmla="*/ 708025 h 1225550"/>
            <a:gd name="connsiteX11" fmla="*/ 501650 w 2847975"/>
            <a:gd name="connsiteY11" fmla="*/ 762000 h 1225550"/>
            <a:gd name="connsiteX12" fmla="*/ 555625 w 2847975"/>
            <a:gd name="connsiteY12" fmla="*/ 793750 h 1225550"/>
            <a:gd name="connsiteX13" fmla="*/ 600075 w 2847975"/>
            <a:gd name="connsiteY13" fmla="*/ 847725 h 1225550"/>
            <a:gd name="connsiteX14" fmla="*/ 692150 w 2847975"/>
            <a:gd name="connsiteY14" fmla="*/ 898525 h 1225550"/>
            <a:gd name="connsiteX15" fmla="*/ 758825 w 2847975"/>
            <a:gd name="connsiteY15" fmla="*/ 936625 h 1225550"/>
            <a:gd name="connsiteX16" fmla="*/ 898525 w 2847975"/>
            <a:gd name="connsiteY16" fmla="*/ 1000125 h 1225550"/>
            <a:gd name="connsiteX17" fmla="*/ 981075 w 2847975"/>
            <a:gd name="connsiteY17" fmla="*/ 1044575 h 1225550"/>
            <a:gd name="connsiteX18" fmla="*/ 1082675 w 2847975"/>
            <a:gd name="connsiteY18" fmla="*/ 1092200 h 1225550"/>
            <a:gd name="connsiteX19" fmla="*/ 1235075 w 2847975"/>
            <a:gd name="connsiteY19" fmla="*/ 1133475 h 1225550"/>
            <a:gd name="connsiteX20" fmla="*/ 1349375 w 2847975"/>
            <a:gd name="connsiteY20" fmla="*/ 1149350 h 1225550"/>
            <a:gd name="connsiteX21" fmla="*/ 1625600 w 2847975"/>
            <a:gd name="connsiteY21" fmla="*/ 1162050 h 1225550"/>
            <a:gd name="connsiteX22" fmla="*/ 1873250 w 2847975"/>
            <a:gd name="connsiteY22" fmla="*/ 1184275 h 1225550"/>
            <a:gd name="connsiteX23" fmla="*/ 2184400 w 2847975"/>
            <a:gd name="connsiteY23" fmla="*/ 1190625 h 1225550"/>
            <a:gd name="connsiteX24" fmla="*/ 2441575 w 2847975"/>
            <a:gd name="connsiteY24" fmla="*/ 1216025 h 1225550"/>
            <a:gd name="connsiteX25" fmla="*/ 2771775 w 2847975"/>
            <a:gd name="connsiteY25" fmla="*/ 1219200 h 1225550"/>
            <a:gd name="connsiteX26" fmla="*/ 2847975 w 2847975"/>
            <a:gd name="connsiteY26" fmla="*/ 1225550 h 122555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</a:cxnLst>
          <a:rect l="l" t="t" r="r" b="b"/>
          <a:pathLst>
            <a:path w="2847975" h="1225550">
              <a:moveTo>
                <a:pt x="0" y="0"/>
              </a:moveTo>
              <a:lnTo>
                <a:pt x="34925" y="82550"/>
              </a:lnTo>
              <a:lnTo>
                <a:pt x="60325" y="165100"/>
              </a:lnTo>
              <a:lnTo>
                <a:pt x="107950" y="250825"/>
              </a:lnTo>
              <a:lnTo>
                <a:pt x="149225" y="311150"/>
              </a:lnTo>
              <a:lnTo>
                <a:pt x="203200" y="377825"/>
              </a:lnTo>
              <a:lnTo>
                <a:pt x="215900" y="419100"/>
              </a:lnTo>
              <a:lnTo>
                <a:pt x="273050" y="501650"/>
              </a:lnTo>
              <a:lnTo>
                <a:pt x="307975" y="574675"/>
              </a:lnTo>
              <a:lnTo>
                <a:pt x="365125" y="666750"/>
              </a:lnTo>
              <a:lnTo>
                <a:pt x="441325" y="708025"/>
              </a:lnTo>
              <a:lnTo>
                <a:pt x="501650" y="762000"/>
              </a:lnTo>
              <a:lnTo>
                <a:pt x="555625" y="793750"/>
              </a:lnTo>
              <a:lnTo>
                <a:pt x="600075" y="847725"/>
              </a:lnTo>
              <a:lnTo>
                <a:pt x="692150" y="898525"/>
              </a:lnTo>
              <a:lnTo>
                <a:pt x="758825" y="936625"/>
              </a:lnTo>
              <a:lnTo>
                <a:pt x="898525" y="1000125"/>
              </a:lnTo>
              <a:lnTo>
                <a:pt x="981075" y="1044575"/>
              </a:lnTo>
              <a:lnTo>
                <a:pt x="1082675" y="1092200"/>
              </a:lnTo>
              <a:lnTo>
                <a:pt x="1235075" y="1133475"/>
              </a:lnTo>
              <a:lnTo>
                <a:pt x="1349375" y="1149350"/>
              </a:lnTo>
              <a:lnTo>
                <a:pt x="1625600" y="1162050"/>
              </a:lnTo>
              <a:lnTo>
                <a:pt x="1873250" y="1184275"/>
              </a:lnTo>
              <a:lnTo>
                <a:pt x="2184400" y="1190625"/>
              </a:lnTo>
              <a:lnTo>
                <a:pt x="2441575" y="1216025"/>
              </a:lnTo>
              <a:lnTo>
                <a:pt x="2771775" y="1219200"/>
              </a:lnTo>
              <a:lnTo>
                <a:pt x="2847975" y="1225550"/>
              </a:lnTo>
            </a:path>
          </a:pathLst>
        </a:custGeom>
        <a:noFill xmlns:a="http://schemas.openxmlformats.org/drawingml/2006/main"/>
        <a:ln xmlns:a="http://schemas.openxmlformats.org/drawingml/2006/main" w="28575"/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0.09859</cdr:x>
      <cdr:y>0.11321</cdr:y>
    </cdr:from>
    <cdr:to>
      <cdr:x>0.93615</cdr:x>
      <cdr:y>0.5601</cdr:y>
    </cdr:to>
    <cdr:sp macro="" textlink="">
      <cdr:nvSpPr>
        <cdr:cNvPr id="4" name="Freeform 3"/>
        <cdr:cNvSpPr/>
      </cdr:nvSpPr>
      <cdr:spPr>
        <a:xfrm xmlns:a="http://schemas.openxmlformats.org/drawingml/2006/main">
          <a:off x="333375" y="254794"/>
          <a:ext cx="2832100" cy="1005840"/>
        </a:xfrm>
        <a:custGeom xmlns:a="http://schemas.openxmlformats.org/drawingml/2006/main">
          <a:avLst/>
          <a:gdLst>
            <a:gd name="connsiteX0" fmla="*/ 0 w 2781300"/>
            <a:gd name="connsiteY0" fmla="*/ 0 h 863600"/>
            <a:gd name="connsiteX1" fmla="*/ 63500 w 2781300"/>
            <a:gd name="connsiteY1" fmla="*/ 66675 h 863600"/>
            <a:gd name="connsiteX2" fmla="*/ 104775 w 2781300"/>
            <a:gd name="connsiteY2" fmla="*/ 111125 h 863600"/>
            <a:gd name="connsiteX3" fmla="*/ 142875 w 2781300"/>
            <a:gd name="connsiteY3" fmla="*/ 196850 h 863600"/>
            <a:gd name="connsiteX4" fmla="*/ 206375 w 2781300"/>
            <a:gd name="connsiteY4" fmla="*/ 225425 h 863600"/>
            <a:gd name="connsiteX5" fmla="*/ 282575 w 2781300"/>
            <a:gd name="connsiteY5" fmla="*/ 342900 h 863600"/>
            <a:gd name="connsiteX6" fmla="*/ 339725 w 2781300"/>
            <a:gd name="connsiteY6" fmla="*/ 431800 h 863600"/>
            <a:gd name="connsiteX7" fmla="*/ 409575 w 2781300"/>
            <a:gd name="connsiteY7" fmla="*/ 457200 h 863600"/>
            <a:gd name="connsiteX8" fmla="*/ 460375 w 2781300"/>
            <a:gd name="connsiteY8" fmla="*/ 571500 h 863600"/>
            <a:gd name="connsiteX9" fmla="*/ 542925 w 2781300"/>
            <a:gd name="connsiteY9" fmla="*/ 650875 h 863600"/>
            <a:gd name="connsiteX10" fmla="*/ 644525 w 2781300"/>
            <a:gd name="connsiteY10" fmla="*/ 727075 h 863600"/>
            <a:gd name="connsiteX11" fmla="*/ 809625 w 2781300"/>
            <a:gd name="connsiteY11" fmla="*/ 727075 h 863600"/>
            <a:gd name="connsiteX12" fmla="*/ 863600 w 2781300"/>
            <a:gd name="connsiteY12" fmla="*/ 762000 h 863600"/>
            <a:gd name="connsiteX13" fmla="*/ 1022350 w 2781300"/>
            <a:gd name="connsiteY13" fmla="*/ 815975 h 863600"/>
            <a:gd name="connsiteX14" fmla="*/ 1149350 w 2781300"/>
            <a:gd name="connsiteY14" fmla="*/ 860425 h 863600"/>
            <a:gd name="connsiteX15" fmla="*/ 1371600 w 2781300"/>
            <a:gd name="connsiteY15" fmla="*/ 863600 h 863600"/>
            <a:gd name="connsiteX16" fmla="*/ 1428750 w 2781300"/>
            <a:gd name="connsiteY16" fmla="*/ 825500 h 863600"/>
            <a:gd name="connsiteX17" fmla="*/ 1609725 w 2781300"/>
            <a:gd name="connsiteY17" fmla="*/ 812800 h 863600"/>
            <a:gd name="connsiteX18" fmla="*/ 1717675 w 2781300"/>
            <a:gd name="connsiteY18" fmla="*/ 739775 h 863600"/>
            <a:gd name="connsiteX19" fmla="*/ 1847850 w 2781300"/>
            <a:gd name="connsiteY19" fmla="*/ 682625 h 863600"/>
            <a:gd name="connsiteX20" fmla="*/ 1924050 w 2781300"/>
            <a:gd name="connsiteY20" fmla="*/ 657225 h 863600"/>
            <a:gd name="connsiteX21" fmla="*/ 2041525 w 2781300"/>
            <a:gd name="connsiteY21" fmla="*/ 625475 h 863600"/>
            <a:gd name="connsiteX22" fmla="*/ 2111375 w 2781300"/>
            <a:gd name="connsiteY22" fmla="*/ 546100 h 863600"/>
            <a:gd name="connsiteX23" fmla="*/ 2200275 w 2781300"/>
            <a:gd name="connsiteY23" fmla="*/ 479425 h 863600"/>
            <a:gd name="connsiteX24" fmla="*/ 2244725 w 2781300"/>
            <a:gd name="connsiteY24" fmla="*/ 431800 h 863600"/>
            <a:gd name="connsiteX25" fmla="*/ 2359025 w 2781300"/>
            <a:gd name="connsiteY25" fmla="*/ 384175 h 863600"/>
            <a:gd name="connsiteX26" fmla="*/ 2524125 w 2781300"/>
            <a:gd name="connsiteY26" fmla="*/ 358775 h 863600"/>
            <a:gd name="connsiteX27" fmla="*/ 2679700 w 2781300"/>
            <a:gd name="connsiteY27" fmla="*/ 314325 h 863600"/>
            <a:gd name="connsiteX28" fmla="*/ 2781300 w 2781300"/>
            <a:gd name="connsiteY28" fmla="*/ 292100 h 86360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  <a:cxn ang="0">
              <a:pos x="connsiteX27" y="connsiteY27"/>
            </a:cxn>
            <a:cxn ang="0">
              <a:pos x="connsiteX28" y="connsiteY28"/>
            </a:cxn>
          </a:cxnLst>
          <a:rect l="l" t="t" r="r" b="b"/>
          <a:pathLst>
            <a:path w="2781300" h="863600">
              <a:moveTo>
                <a:pt x="0" y="0"/>
              </a:moveTo>
              <a:lnTo>
                <a:pt x="63500" y="66675"/>
              </a:lnTo>
              <a:lnTo>
                <a:pt x="104775" y="111125"/>
              </a:lnTo>
              <a:lnTo>
                <a:pt x="142875" y="196850"/>
              </a:lnTo>
              <a:lnTo>
                <a:pt x="206375" y="225425"/>
              </a:lnTo>
              <a:lnTo>
                <a:pt x="282575" y="342900"/>
              </a:lnTo>
              <a:lnTo>
                <a:pt x="339725" y="431800"/>
              </a:lnTo>
              <a:lnTo>
                <a:pt x="409575" y="457200"/>
              </a:lnTo>
              <a:lnTo>
                <a:pt x="460375" y="571500"/>
              </a:lnTo>
              <a:lnTo>
                <a:pt x="542925" y="650875"/>
              </a:lnTo>
              <a:lnTo>
                <a:pt x="644525" y="727075"/>
              </a:lnTo>
              <a:lnTo>
                <a:pt x="809625" y="727075"/>
              </a:lnTo>
              <a:lnTo>
                <a:pt x="863600" y="762000"/>
              </a:lnTo>
              <a:lnTo>
                <a:pt x="1022350" y="815975"/>
              </a:lnTo>
              <a:lnTo>
                <a:pt x="1149350" y="860425"/>
              </a:lnTo>
              <a:lnTo>
                <a:pt x="1371600" y="863600"/>
              </a:lnTo>
              <a:lnTo>
                <a:pt x="1428750" y="825500"/>
              </a:lnTo>
              <a:lnTo>
                <a:pt x="1609725" y="812800"/>
              </a:lnTo>
              <a:lnTo>
                <a:pt x="1717675" y="739775"/>
              </a:lnTo>
              <a:lnTo>
                <a:pt x="1847850" y="682625"/>
              </a:lnTo>
              <a:lnTo>
                <a:pt x="1924050" y="657225"/>
              </a:lnTo>
              <a:lnTo>
                <a:pt x="2041525" y="625475"/>
              </a:lnTo>
              <a:lnTo>
                <a:pt x="2111375" y="546100"/>
              </a:lnTo>
              <a:lnTo>
                <a:pt x="2200275" y="479425"/>
              </a:lnTo>
              <a:lnTo>
                <a:pt x="2244725" y="431800"/>
              </a:lnTo>
              <a:lnTo>
                <a:pt x="2359025" y="384175"/>
              </a:lnTo>
              <a:lnTo>
                <a:pt x="2524125" y="358775"/>
              </a:lnTo>
              <a:lnTo>
                <a:pt x="2679700" y="314325"/>
              </a:lnTo>
              <a:lnTo>
                <a:pt x="2781300" y="292100"/>
              </a:lnTo>
            </a:path>
          </a:pathLst>
        </a:custGeom>
        <a:noFill xmlns:a="http://schemas.openxmlformats.org/drawingml/2006/main"/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 anchor="ctr">
          <a:spAutoFit/>
        </a:bodyPr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B8742D3-6FBB-4C55-9D78-468E87114176}" type="datetimeFigureOut">
              <a:rPr lang="en-US"/>
              <a:pPr>
                <a:defRPr/>
              </a:pPr>
              <a:t>4/7/2020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05FBF6B-6A5C-4AF0-95C7-091FCECE3E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6632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B9EEB2-BD37-4AEC-A11A-4A32E214D1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32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7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9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9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3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2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7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38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W crest transparent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92360" y="340043"/>
            <a:ext cx="1691640" cy="2668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52" y="818881"/>
            <a:ext cx="9429482" cy="182128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117600" y="4419600"/>
            <a:ext cx="104648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320800" y="5638800"/>
            <a:ext cx="98552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C00000"/>
                </a:solidFill>
              </a:defRPr>
            </a:lvl1pPr>
            <a:lvl3pPr marL="914400" indent="0" algn="ctr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3605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48283" y="65395"/>
            <a:ext cx="12071288" cy="602821"/>
          </a:xfrm>
          <a:prstGeom prst="roundRect">
            <a:avLst>
              <a:gd name="adj" fmla="val 27057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0000"/>
                </a:schemeClr>
              </a:gs>
              <a:gs pos="54000">
                <a:srgbClr val="800000"/>
              </a:gs>
              <a:gs pos="96000">
                <a:srgbClr val="7F3838"/>
              </a:gs>
              <a:gs pos="100000">
                <a:srgbClr val="7F6060"/>
              </a:gs>
              <a:gs pos="5000">
                <a:srgbClr val="7F4848">
                  <a:lumMod val="99000"/>
                  <a:lumOff val="1000"/>
                </a:srgbClr>
              </a:gs>
              <a:gs pos="100000">
                <a:schemeClr val="tx1">
                  <a:lumMod val="50000"/>
                  <a:lumOff val="50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>
              <a:solidFill>
                <a:srgbClr val="FFFFFF"/>
              </a:solidFill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04422"/>
            <a:ext cx="11277600" cy="5942442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―"/>
              <a:defRPr>
                <a:solidFill>
                  <a:srgbClr val="64000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09601" y="101601"/>
            <a:ext cx="11368617" cy="50506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51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04422"/>
            <a:ext cx="5561744" cy="5942442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―"/>
              <a:defRPr>
                <a:solidFill>
                  <a:srgbClr val="64000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087439" y="704422"/>
            <a:ext cx="5561744" cy="5942442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―"/>
              <a:defRPr>
                <a:solidFill>
                  <a:srgbClr val="64000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059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48283" y="65394"/>
            <a:ext cx="12071288" cy="912380"/>
          </a:xfrm>
          <a:prstGeom prst="roundRect">
            <a:avLst>
              <a:gd name="adj" fmla="val 27057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0000"/>
                </a:schemeClr>
              </a:gs>
              <a:gs pos="54000">
                <a:srgbClr val="800000"/>
              </a:gs>
              <a:gs pos="96000">
                <a:srgbClr val="7F3838"/>
              </a:gs>
              <a:gs pos="100000">
                <a:srgbClr val="7F6060"/>
              </a:gs>
              <a:gs pos="5000">
                <a:srgbClr val="7F4848">
                  <a:lumMod val="99000"/>
                  <a:lumOff val="1000"/>
                </a:srgbClr>
              </a:gs>
              <a:gs pos="100000">
                <a:schemeClr val="tx1">
                  <a:lumMod val="50000"/>
                  <a:lumOff val="50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800" b="1" dirty="0">
              <a:solidFill>
                <a:srgbClr val="FFFFFF"/>
              </a:solidFill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09601" y="101600"/>
            <a:ext cx="11368617" cy="820738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02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48283" y="65394"/>
            <a:ext cx="12071288" cy="912380"/>
          </a:xfrm>
          <a:prstGeom prst="roundRect">
            <a:avLst>
              <a:gd name="adj" fmla="val 27057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0000"/>
                </a:schemeClr>
              </a:gs>
              <a:gs pos="54000">
                <a:srgbClr val="800000"/>
              </a:gs>
              <a:gs pos="96000">
                <a:srgbClr val="7F3838"/>
              </a:gs>
              <a:gs pos="100000">
                <a:srgbClr val="7F6060"/>
              </a:gs>
              <a:gs pos="5000">
                <a:srgbClr val="7F4848">
                  <a:lumMod val="99000"/>
                  <a:lumOff val="1000"/>
                </a:srgbClr>
              </a:gs>
              <a:gs pos="100000">
                <a:schemeClr val="tx1">
                  <a:lumMod val="50000"/>
                  <a:lumOff val="50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800" b="1" dirty="0">
              <a:solidFill>
                <a:srgbClr val="FFFFFF"/>
              </a:solidFill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09601" y="101600"/>
            <a:ext cx="11368617" cy="820738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78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48283" y="65394"/>
            <a:ext cx="12071288" cy="912380"/>
          </a:xfrm>
          <a:prstGeom prst="roundRect">
            <a:avLst>
              <a:gd name="adj" fmla="val 27057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0000"/>
                </a:schemeClr>
              </a:gs>
              <a:gs pos="54000">
                <a:srgbClr val="800000"/>
              </a:gs>
              <a:gs pos="96000">
                <a:srgbClr val="7F3838"/>
              </a:gs>
              <a:gs pos="100000">
                <a:srgbClr val="7F6060"/>
              </a:gs>
              <a:gs pos="5000">
                <a:srgbClr val="7F4848">
                  <a:lumMod val="99000"/>
                  <a:lumOff val="1000"/>
                </a:srgbClr>
              </a:gs>
              <a:gs pos="100000">
                <a:schemeClr val="tx1">
                  <a:lumMod val="50000"/>
                  <a:lumOff val="50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800" b="1" dirty="0">
              <a:solidFill>
                <a:srgbClr val="FFFFFF"/>
              </a:solidFill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09601" y="101600"/>
            <a:ext cx="11368617" cy="820738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73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48283" y="65394"/>
            <a:ext cx="12071288" cy="912380"/>
          </a:xfrm>
          <a:prstGeom prst="roundRect">
            <a:avLst>
              <a:gd name="adj" fmla="val 27057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0000"/>
                </a:schemeClr>
              </a:gs>
              <a:gs pos="54000">
                <a:srgbClr val="800000"/>
              </a:gs>
              <a:gs pos="96000">
                <a:srgbClr val="7F3838"/>
              </a:gs>
              <a:gs pos="100000">
                <a:srgbClr val="7F6060"/>
              </a:gs>
              <a:gs pos="5000">
                <a:srgbClr val="7F4848">
                  <a:lumMod val="99000"/>
                  <a:lumOff val="1000"/>
                </a:srgbClr>
              </a:gs>
              <a:gs pos="100000">
                <a:schemeClr val="tx1">
                  <a:lumMod val="50000"/>
                  <a:lumOff val="50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>
              <a:solidFill>
                <a:srgbClr val="FFFFFF"/>
              </a:solidFill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09601" y="101600"/>
            <a:ext cx="11368617" cy="820738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246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kumimoji="1" lang="en-US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412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6799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308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00200"/>
            <a:ext cx="5486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00200"/>
            <a:ext cx="5486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34808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1714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5206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681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3904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2053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123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09403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16000" y="16002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002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16000" y="41529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41529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222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00200"/>
            <a:ext cx="11176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0" y="4152900"/>
            <a:ext cx="11176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7051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00200"/>
            <a:ext cx="54864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002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705600" y="4152900"/>
            <a:ext cx="5486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4285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600200"/>
            <a:ext cx="54864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705600" y="1600200"/>
            <a:ext cx="5486400" cy="49530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770098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uzh_eth_logo_e_pos_sap_standard+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404664"/>
            <a:ext cx="52096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ine 16"/>
          <p:cNvSpPr>
            <a:spLocks noChangeShapeType="1"/>
          </p:cNvSpPr>
          <p:nvPr userDrawn="1"/>
        </p:nvSpPr>
        <p:spPr bwMode="auto">
          <a:xfrm>
            <a:off x="2914651" y="6678657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ts val="2400"/>
              </a:lnSpc>
              <a:spcBef>
                <a:spcPts val="600"/>
              </a:spcBef>
              <a:buClr>
                <a:srgbClr val="2A6AB3"/>
              </a:buClr>
              <a:buSzPct val="110000"/>
              <a:buFont typeface="Wingdings" pitchFamily="16" charset="2"/>
              <a:buNone/>
              <a:defRPr/>
            </a:pPr>
            <a:endParaRPr lang="de-CH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Line 16"/>
          <p:cNvSpPr>
            <a:spLocks noChangeShapeType="1"/>
          </p:cNvSpPr>
          <p:nvPr userDrawn="1"/>
        </p:nvSpPr>
        <p:spPr bwMode="auto">
          <a:xfrm>
            <a:off x="9455151" y="6678657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ts val="2400"/>
              </a:lnSpc>
              <a:spcBef>
                <a:spcPts val="600"/>
              </a:spcBef>
              <a:buClr>
                <a:srgbClr val="2A6AB3"/>
              </a:buClr>
              <a:buSzPct val="110000"/>
              <a:buFont typeface="Wingdings" pitchFamily="16" charset="2"/>
              <a:buNone/>
              <a:defRPr/>
            </a:pPr>
            <a:endParaRPr lang="de-CH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8000" y="1232917"/>
            <a:ext cx="11176000" cy="946150"/>
          </a:xfrm>
          <a:effectLst/>
        </p:spPr>
        <p:txBody>
          <a:bodyPr anchor="ctr" anchorCtr="0"/>
          <a:lstStyle>
            <a:lvl1pPr>
              <a:defRPr sz="320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8000" y="2213992"/>
            <a:ext cx="11176000" cy="1143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  <a:defRPr sz="1600" smtClean="0">
                <a:solidFill>
                  <a:srgbClr val="404040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grayscl/>
          </a:blip>
          <a:stretch>
            <a:fillRect/>
          </a:stretch>
        </p:blipFill>
        <p:spPr>
          <a:xfrm>
            <a:off x="-10584" y="3571205"/>
            <a:ext cx="12216000" cy="3296122"/>
          </a:xfrm>
          <a:prstGeom prst="rect">
            <a:avLst/>
          </a:prstGeom>
        </p:spPr>
      </p:pic>
      <p:pic>
        <p:nvPicPr>
          <p:cNvPr id="8" name="Picture 33" descr="KCL_noUoL_A4_40mm_PowerPoint_blue"/>
          <p:cNvPicPr>
            <a:picLocks noChangeAspect="1" noChangeArrowheads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256" y="404665"/>
            <a:ext cx="1152288" cy="57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301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>
                <a:latin typeface="Calibri" pitchFamily="34" charset="0"/>
              </a:defRPr>
            </a:lvl1pPr>
            <a:lvl2pPr>
              <a:buNone/>
              <a:defRPr>
                <a:latin typeface="Calibri" pitchFamily="34" charset="0"/>
              </a:defRPr>
            </a:lvl2pPr>
            <a:lvl3pPr>
              <a:buNone/>
              <a:defRPr>
                <a:latin typeface="Calibri" pitchFamily="34" charset="0"/>
              </a:defRPr>
            </a:lvl3pPr>
            <a:lvl4pPr>
              <a:buNone/>
              <a:defRPr>
                <a:latin typeface="Calibri" pitchFamily="34" charset="0"/>
              </a:defRPr>
            </a:lvl4pPr>
            <a:lvl5pPr>
              <a:buNone/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051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011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DF717-FD4C-4F08-8EFB-02DDA07AF76F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1671B-7197-4B64-BF05-CC6D38AC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6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6" r:id="rId14"/>
    <p:sldLayoutId id="2147483913" r:id="rId15"/>
    <p:sldLayoutId id="2147483914" r:id="rId16"/>
    <p:sldLayoutId id="2147483915" r:id="rId17"/>
    <p:sldLayoutId id="214748391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3" name="Rectangle 19"/>
          <p:cNvSpPr>
            <a:spLocks noChangeArrowheads="1"/>
          </p:cNvSpPr>
          <p:nvPr userDrawn="1"/>
        </p:nvSpPr>
        <p:spPr bwMode="auto">
          <a:xfrm>
            <a:off x="1016001" y="228600"/>
            <a:ext cx="11173884" cy="6810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kumimoji="1" lang="en-GB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62484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2485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1600200"/>
            <a:ext cx="11176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2488" name="Rectangle 24"/>
          <p:cNvSpPr>
            <a:spLocks noChangeArrowheads="1"/>
          </p:cNvSpPr>
          <p:nvPr userDrawn="1"/>
        </p:nvSpPr>
        <p:spPr bwMode="auto">
          <a:xfrm>
            <a:off x="929218" y="876301"/>
            <a:ext cx="11055349" cy="42863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21961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21961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GB" sz="2000" i="1">
              <a:solidFill>
                <a:srgbClr val="CBCBCB"/>
              </a:solidFill>
              <a:latin typeface="Times New Roman" pitchFamily="18" charset="0"/>
            </a:endParaRPr>
          </a:p>
        </p:txBody>
      </p:sp>
      <p:pic>
        <p:nvPicPr>
          <p:cNvPr id="6150" name="Picture 25" descr="W crest transparent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1379200" y="76200"/>
            <a:ext cx="77258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025927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66"/>
        </a:buClr>
        <a:buSzPct val="80000"/>
        <a:buFont typeface="Wingdings" pitchFamily="2" charset="2"/>
        <a:buChar char="l"/>
        <a:defRPr sz="3200">
          <a:solidFill>
            <a:srgbClr val="FFFF66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-1648" y="1"/>
            <a:ext cx="12193647" cy="548680"/>
          </a:xfrm>
          <a:prstGeom prst="rect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98000" tIns="46800" rIns="90000" bIns="46800" anchor="ctr"/>
          <a:lstStyle/>
          <a:p>
            <a:pPr>
              <a:spcBef>
                <a:spcPct val="20000"/>
              </a:spcBef>
              <a:buClr>
                <a:srgbClr val="52ADE7"/>
              </a:buClr>
              <a:buFont typeface="Wingdings" pitchFamily="2" charset="2"/>
              <a:buNone/>
              <a:defRPr/>
            </a:pPr>
            <a:endParaRPr lang="de-CH" sz="2400" i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711200" y="1143000"/>
            <a:ext cx="10363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52ADE7"/>
              </a:buClr>
              <a:buFont typeface="Wingdings" pitchFamily="2" charset="2"/>
              <a:buNone/>
              <a:defRPr/>
            </a:pPr>
            <a:endParaRPr lang="de-CH" sz="3200" b="1">
              <a:solidFill>
                <a:srgbClr val="2A6AB3"/>
              </a:solidFill>
              <a:latin typeface="Arial" charset="0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7034" y="765175"/>
            <a:ext cx="10555817" cy="536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 noProof="0"/>
              <a:t>Click to edit Master text styles</a:t>
            </a:r>
          </a:p>
          <a:p>
            <a:pPr lvl="1"/>
            <a:r>
              <a:rPr lang="de-CH" noProof="0"/>
              <a:t>Second level</a:t>
            </a:r>
          </a:p>
          <a:p>
            <a:pPr lvl="2"/>
            <a:r>
              <a:rPr lang="de-CH" noProof="0"/>
              <a:t>Third level</a:t>
            </a:r>
          </a:p>
          <a:p>
            <a:pPr lvl="3"/>
            <a:r>
              <a:rPr lang="de-CH" noProof="0"/>
              <a:t>Fourth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7034" y="44450"/>
            <a:ext cx="10555817" cy="50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CH" noProof="0"/>
              <a:t>Click to edit Master title style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 flipH="1">
            <a:off x="-1" y="6741368"/>
            <a:ext cx="12193647" cy="128390"/>
          </a:xfrm>
          <a:prstGeom prst="rect">
            <a:avLst/>
          </a:pr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98000" tIns="46800" rIns="90000" bIns="46800" anchor="ctr"/>
          <a:lstStyle/>
          <a:p>
            <a:pPr>
              <a:spcBef>
                <a:spcPct val="20000"/>
              </a:spcBef>
              <a:buClr>
                <a:srgbClr val="52ADE7"/>
              </a:buClr>
              <a:buFont typeface="Wingdings" pitchFamily="2" charset="2"/>
              <a:buNone/>
              <a:defRPr/>
            </a:pPr>
            <a:endParaRPr lang="de-CH" sz="2400" i="1">
              <a:solidFill>
                <a:srgbClr val="FFFF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6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</p:sldLayoutIdLst>
  <p:txStyles>
    <p:title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alibri"/>
          <a:ea typeface="+mj-ea"/>
          <a:cs typeface="Calibri"/>
        </a:defRPr>
      </a:lvl1pPr>
      <a:lvl2pPr algn="l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fontAlgn="base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fontAlgn="base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fontAlgn="base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fontAlgn="base">
        <a:lnSpc>
          <a:spcPts val="38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ts val="4000"/>
        </a:lnSpc>
        <a:spcBef>
          <a:spcPts val="800"/>
        </a:spcBef>
        <a:spcAft>
          <a:spcPct val="0"/>
        </a:spcAft>
        <a:buClr>
          <a:srgbClr val="2A6AB3"/>
        </a:buClr>
        <a:buSzPct val="110000"/>
        <a:buFont typeface="Wingdings" pitchFamily="2" charset="2"/>
        <a:buChar char="•"/>
        <a:defRPr sz="2000" b="1">
          <a:solidFill>
            <a:srgbClr val="4D4D4D"/>
          </a:solidFill>
          <a:latin typeface="Calibri"/>
          <a:ea typeface="+mn-ea"/>
          <a:cs typeface="Calibri"/>
        </a:defRPr>
      </a:lvl1pPr>
      <a:lvl2pPr marL="742950" indent="-285750" algn="l" rtl="0" eaLnBrk="0" fontAlgn="base" hangingPunct="0">
        <a:lnSpc>
          <a:spcPts val="3200"/>
        </a:lnSpc>
        <a:spcBef>
          <a:spcPts val="4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–"/>
        <a:defRPr sz="2800" b="1">
          <a:solidFill>
            <a:srgbClr val="4D4D4D"/>
          </a:solidFill>
          <a:latin typeface="Calibri"/>
          <a:cs typeface="Calibri"/>
        </a:defRPr>
      </a:lvl2pPr>
      <a:lvl3pPr marL="1143000" indent="-228600" algn="l" rtl="0" eaLnBrk="0" fontAlgn="base" hangingPunct="0">
        <a:lnSpc>
          <a:spcPts val="2400"/>
        </a:lnSpc>
        <a:spcBef>
          <a:spcPts val="400"/>
        </a:spcBef>
        <a:spcAft>
          <a:spcPct val="0"/>
        </a:spcAft>
        <a:buChar char="•"/>
        <a:defRPr sz="1600" b="1">
          <a:solidFill>
            <a:srgbClr val="4D4D4D"/>
          </a:solidFill>
          <a:latin typeface="Calibri"/>
          <a:cs typeface="Calibri"/>
        </a:defRPr>
      </a:lvl3pPr>
      <a:lvl4pPr marL="1600200" indent="-228600" algn="l" rtl="0" eaLnBrk="0" fontAlgn="base" hangingPunct="0">
        <a:lnSpc>
          <a:spcPts val="1800"/>
        </a:lnSpc>
        <a:spcBef>
          <a:spcPts val="400"/>
        </a:spcBef>
        <a:spcAft>
          <a:spcPct val="0"/>
        </a:spcAft>
        <a:buFont typeface="Times"/>
        <a:buChar char="–"/>
        <a:defRPr sz="1400" b="1">
          <a:solidFill>
            <a:srgbClr val="4D4D4D"/>
          </a:solidFill>
          <a:latin typeface="Calibri"/>
          <a:cs typeface="Calibri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»"/>
        <a:defRPr sz="16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defRPr sz="16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defRPr sz="16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defRPr sz="16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defRPr sz="16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bradshaw@wis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amcmillan@uwhealth.or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838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bvel/segmentation_models" TargetMode="External"/><Relationship Id="rId2" Type="http://schemas.openxmlformats.org/officeDocument/2006/relationships/hyperlink" Target="https://github.com/nerox8664/awesome-computer-vision-models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cerimagingarchive.net/" TargetMode="External"/><Relationship Id="rId2" Type="http://schemas.openxmlformats.org/officeDocument/2006/relationships/hyperlink" Target="https://github.com/kmjohnson3/ML4MI_BootCamp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 bwMode="auto">
          <a:xfrm>
            <a:off x="129973" y="333330"/>
            <a:ext cx="9543437" cy="101890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SNMMI Hands-on Training for AI: </a:t>
            </a:r>
            <a:br>
              <a:rPr lang="en-US" dirty="0"/>
            </a:br>
            <a:r>
              <a:rPr lang="en-US" dirty="0"/>
              <a:t>	Do’s and </a:t>
            </a:r>
            <a:r>
              <a:rPr lang="en-US" dirty="0" err="1"/>
              <a:t>Dont’s</a:t>
            </a:r>
            <a:r>
              <a:rPr lang="en-US" dirty="0"/>
              <a:t> of Deep Learning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	</a:t>
            </a:r>
            <a:endParaRPr lang="en-US" sz="4000" i="1" dirty="0">
              <a:solidFill>
                <a:schemeClr val="tx1"/>
              </a:solidFill>
            </a:endParaRPr>
          </a:p>
        </p:txBody>
      </p:sp>
      <p:sp>
        <p:nvSpPr>
          <p:cNvPr id="18" name="Text Placeholder 4"/>
          <p:cNvSpPr txBox="1">
            <a:spLocks/>
          </p:cNvSpPr>
          <p:nvPr/>
        </p:nvSpPr>
        <p:spPr bwMode="auto">
          <a:xfrm>
            <a:off x="129973" y="3979813"/>
            <a:ext cx="10408118" cy="464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Contributors: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	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</a:rPr>
              <a:t>Tyler J Bradshaw ( 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  <a:hlinkClick r:id="rId3"/>
              </a:rPr>
              <a:t>tbradshaw@wisc.edu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</a:rPr>
              <a:t> )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lvl="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	Alan B 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</a:rPr>
              <a:t>McMillan( 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  <a:hlinkClick r:id="rId4"/>
              </a:rPr>
              <a:t>amcmillan@uwhealth.org</a:t>
            </a: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</a:rPr>
              <a:t>)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i="1" dirty="0">
                <a:solidFill>
                  <a:srgbClr val="C00000"/>
                </a:solidFill>
                <a:latin typeface="Calibri Light" panose="020F0302020204030204"/>
              </a:rPr>
              <a:t>	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Special thanks to Kevin Johnson and Jacob Johnson from University</a:t>
            </a:r>
            <a:r>
              <a:rPr lang="en-US" sz="2400" i="1" dirty="0">
                <a:solidFill>
                  <a:srgbClr val="C00000"/>
                </a:solidFill>
                <a:latin typeface="Calibri Light" panose="020F0302020204030204"/>
              </a:rPr>
              <a:t> of Wisconsin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Text Placeholder 4"/>
          <p:cNvSpPr txBox="1">
            <a:spLocks/>
          </p:cNvSpPr>
          <p:nvPr/>
        </p:nvSpPr>
        <p:spPr bwMode="auto">
          <a:xfrm>
            <a:off x="131985" y="2342164"/>
            <a:ext cx="11820501" cy="119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i="1" dirty="0">
                <a:solidFill>
                  <a:schemeClr val="tx1">
                    <a:lumMod val="50000"/>
                  </a:schemeClr>
                </a:solidFill>
                <a:latin typeface="Calibri Light" panose="020F0302020204030204"/>
              </a:rPr>
              <a:t>Updated: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	April 13</a:t>
            </a:r>
            <a:r>
              <a:rPr lang="en-US" sz="2800" i="1" dirty="0">
                <a:solidFill>
                  <a:schemeClr val="tx1">
                    <a:lumMod val="50000"/>
                  </a:schemeClr>
                </a:solidFill>
                <a:latin typeface="Calibri Light" panose="020F0302020204030204"/>
              </a:rPr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241534232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FFD04-54CF-4929-9231-92503C562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Things will not go as planned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6A634-85F7-4776-9737-74D6399B5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art of deep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F54C9-A0AE-466A-BD24-D90EF7B5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153" y="1628664"/>
            <a:ext cx="4240893" cy="501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0E4086-55B7-455D-8172-8E674E411946}"/>
              </a:ext>
            </a:extLst>
          </p:cNvPr>
          <p:cNvSpPr/>
          <p:nvPr/>
        </p:nvSpPr>
        <p:spPr>
          <a:xfrm>
            <a:off x="5132534" y="6632522"/>
            <a:ext cx="1723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3"/>
              </a:rPr>
              <a:t>https://xkcd.com/1838/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5611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A02600-5969-4A66-A9C0-F41BB995EB89}"/>
              </a:ext>
            </a:extLst>
          </p:cNvPr>
          <p:cNvSpPr/>
          <p:nvPr/>
        </p:nvSpPr>
        <p:spPr>
          <a:xfrm>
            <a:off x="1756229" y="868280"/>
            <a:ext cx="8113485" cy="38778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marL="228600" indent="-22860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12109-64F5-41B0-9C70-F672E21A9F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 Do: double check, triple check your input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BB33F-FB66-4569-AFAE-71D667F076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6" t="9798" r="39037" b="9446"/>
          <a:stretch/>
        </p:blipFill>
        <p:spPr>
          <a:xfrm rot="16200000">
            <a:off x="2405131" y="1407042"/>
            <a:ext cx="2699658" cy="3469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9E84B-0B10-4A53-AD3C-2E9F817CB6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49" t="9704" r="38234" b="12413"/>
          <a:stretch/>
        </p:blipFill>
        <p:spPr>
          <a:xfrm rot="16200000">
            <a:off x="6415316" y="1472659"/>
            <a:ext cx="2699658" cy="3338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8D035B-215D-4EF4-870A-BBD7E0CC6D80}"/>
              </a:ext>
            </a:extLst>
          </p:cNvPr>
          <p:cNvSpPr txBox="1"/>
          <p:nvPr/>
        </p:nvSpPr>
        <p:spPr bwMode="auto">
          <a:xfrm>
            <a:off x="2620949" y="3919741"/>
            <a:ext cx="2006768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800" b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EXPECTATION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6A94D-8E2D-4538-9DAA-33E8C4FEC437}"/>
              </a:ext>
            </a:extLst>
          </p:cNvPr>
          <p:cNvSpPr txBox="1"/>
          <p:nvPr/>
        </p:nvSpPr>
        <p:spPr bwMode="auto">
          <a:xfrm>
            <a:off x="7308560" y="3919741"/>
            <a:ext cx="129484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800" b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REALITY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6A79C-5EF2-41E8-90CD-33FDF872F42C}"/>
              </a:ext>
            </a:extLst>
          </p:cNvPr>
          <p:cNvSpPr txBox="1"/>
          <p:nvPr/>
        </p:nvSpPr>
        <p:spPr bwMode="auto">
          <a:xfrm>
            <a:off x="1025224" y="4858459"/>
            <a:ext cx="10537370" cy="116955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b="0" dirty="0"/>
              <a:t>This is hard to diagnose from the model’s output alone</a:t>
            </a:r>
          </a:p>
          <a:p>
            <a:pPr marL="457200" indent="-457200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C</a:t>
            </a:r>
            <a:r>
              <a:rPr lang="en-US" sz="2800" b="0" dirty="0"/>
              <a:t>an send you down the wrong path for a LONG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1A6CC-97CD-4997-8402-5D29C6FB2FC1}"/>
              </a:ext>
            </a:extLst>
          </p:cNvPr>
          <p:cNvSpPr txBox="1"/>
          <p:nvPr/>
        </p:nvSpPr>
        <p:spPr bwMode="auto">
          <a:xfrm>
            <a:off x="3886072" y="868280"/>
            <a:ext cx="3935180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800" b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DEEP LEARNING DATA INPUT</a:t>
            </a:r>
          </a:p>
        </p:txBody>
      </p:sp>
    </p:spTree>
    <p:extLst>
      <p:ext uri="{BB962C8B-B14F-4D97-AF65-F5344CB8AC3E}">
        <p14:creationId xmlns:p14="http://schemas.microsoft.com/office/powerpoint/2010/main" val="2561222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3F5C5-DFFF-4FF5-BCC3-51D7930D4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2. Do: check your loss plots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913" y="698499"/>
            <a:ext cx="4428773" cy="294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14" y="698499"/>
            <a:ext cx="4428773" cy="2948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4" y="3636973"/>
            <a:ext cx="4616746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485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3F5C5-DFFF-4FF5-BCC3-51D7930D4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2. Do: check your loss plots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913" y="698499"/>
            <a:ext cx="4428773" cy="294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13" y="698499"/>
            <a:ext cx="4428773" cy="2948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4" y="3636973"/>
            <a:ext cx="4616746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 bwMode="auto">
          <a:xfrm rot="20654522">
            <a:off x="1098885" y="1850038"/>
            <a:ext cx="4288354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0" dirty="0">
                <a:latin typeface="Stencil" panose="040409050D0802020404" pitchFamily="82" charset="0"/>
              </a:rPr>
              <a:t>Overfitting / not enough data</a:t>
            </a:r>
          </a:p>
        </p:txBody>
      </p:sp>
      <p:sp>
        <p:nvSpPr>
          <p:cNvPr id="12" name="TextBox 11"/>
          <p:cNvSpPr txBox="1"/>
          <p:nvPr/>
        </p:nvSpPr>
        <p:spPr bwMode="auto">
          <a:xfrm rot="20654522">
            <a:off x="7199804" y="1850037"/>
            <a:ext cx="3348994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0" dirty="0">
                <a:latin typeface="Stencil" panose="040409050D0802020404" pitchFamily="82" charset="0"/>
              </a:rPr>
              <a:t>Stuck in LOCAL minimum</a:t>
            </a:r>
          </a:p>
        </p:txBody>
      </p:sp>
      <p:sp>
        <p:nvSpPr>
          <p:cNvPr id="13" name="TextBox 12"/>
          <p:cNvSpPr txBox="1"/>
          <p:nvPr/>
        </p:nvSpPr>
        <p:spPr bwMode="auto">
          <a:xfrm rot="20654522">
            <a:off x="4587926" y="4906577"/>
            <a:ext cx="2778325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0" dirty="0">
                <a:latin typeface="Stencil" panose="040409050D0802020404" pitchFamily="82" charset="0"/>
              </a:rPr>
              <a:t>Network too small</a:t>
            </a:r>
          </a:p>
        </p:txBody>
      </p:sp>
    </p:spTree>
    <p:extLst>
      <p:ext uri="{BB962C8B-B14F-4D97-AF65-F5344CB8AC3E}">
        <p14:creationId xmlns:p14="http://schemas.microsoft.com/office/powerpoint/2010/main" val="259856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06C0A-3823-4CAF-B51F-3F27F4C5F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Class balancing methods exist and are simple to implement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5899-FC27-481C-9E23-F7F519384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3. Don’t: train with large class imbalance</a:t>
            </a:r>
          </a:p>
        </p:txBody>
      </p:sp>
      <p:pic>
        <p:nvPicPr>
          <p:cNvPr id="309" name="Picture 308">
            <a:extLst>
              <a:ext uri="{FF2B5EF4-FFF2-40B4-BE49-F238E27FC236}">
                <a16:creationId xmlns:a16="http://schemas.microsoft.com/office/drawing/2014/main" id="{30526F3E-32B6-4B9D-87B8-1D8E0E90F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744" y="866560"/>
            <a:ext cx="6821714" cy="367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7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5EC20-4694-4950-B11B-1EF1E254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 training at validation minimum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 smaller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augmentation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features to network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Batch normalization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FB4C-CB85-4BDB-927D-F3E223C2E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Don’t: overfit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68E588-C58B-4E4A-A617-427B55F1A5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813532"/>
              </p:ext>
            </p:extLst>
          </p:nvPr>
        </p:nvGraphicFramePr>
        <p:xfrm>
          <a:off x="4210050" y="704422"/>
          <a:ext cx="3771900" cy="251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3">
            <a:extLst>
              <a:ext uri="{FF2B5EF4-FFF2-40B4-BE49-F238E27FC236}">
                <a16:creationId xmlns:a16="http://schemas.microsoft.com/office/drawing/2014/main" id="{67D2E482-B8E4-4967-9E08-3ED3A8B7B674}"/>
              </a:ext>
            </a:extLst>
          </p:cNvPr>
          <p:cNvSpPr txBox="1"/>
          <p:nvPr/>
        </p:nvSpPr>
        <p:spPr bwMode="auto">
          <a:xfrm>
            <a:off x="5264301" y="1311223"/>
            <a:ext cx="1190328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>
                <a:solidFill>
                  <a:srgbClr val="FF0000"/>
                </a:solidFill>
              </a:rPr>
              <a:t>Validation</a:t>
            </a:r>
            <a:endParaRPr lang="en-US" sz="2800" b="0" dirty="0">
              <a:solidFill>
                <a:srgbClr val="FF000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BE3908E-6492-4B80-8F38-F7E6DF3751B8}"/>
              </a:ext>
            </a:extLst>
          </p:cNvPr>
          <p:cNvSpPr txBox="1"/>
          <p:nvPr/>
        </p:nvSpPr>
        <p:spPr bwMode="auto">
          <a:xfrm rot="1054416">
            <a:off x="4663661" y="1918486"/>
            <a:ext cx="1021814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/>
              <a:t>Training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44940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5EC20-4694-4950-B11B-1EF1E254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 training at validation minimum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 smaller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Data augmentation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features to network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Batch normalization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FB4C-CB85-4BDB-927D-F3E223C2E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Don’t: overfit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68E588-C58B-4E4A-A617-427B55F1A5AC}"/>
              </a:ext>
            </a:extLst>
          </p:cNvPr>
          <p:cNvGraphicFramePr>
            <a:graphicFrameLocks/>
          </p:cNvGraphicFramePr>
          <p:nvPr/>
        </p:nvGraphicFramePr>
        <p:xfrm>
          <a:off x="4210050" y="704422"/>
          <a:ext cx="3771900" cy="251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3">
            <a:extLst>
              <a:ext uri="{FF2B5EF4-FFF2-40B4-BE49-F238E27FC236}">
                <a16:creationId xmlns:a16="http://schemas.microsoft.com/office/drawing/2014/main" id="{67D2E482-B8E4-4967-9E08-3ED3A8B7B674}"/>
              </a:ext>
            </a:extLst>
          </p:cNvPr>
          <p:cNvSpPr txBox="1"/>
          <p:nvPr/>
        </p:nvSpPr>
        <p:spPr bwMode="auto">
          <a:xfrm>
            <a:off x="5264301" y="1311223"/>
            <a:ext cx="1190328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>
                <a:solidFill>
                  <a:srgbClr val="FF0000"/>
                </a:solidFill>
              </a:rPr>
              <a:t>Validation</a:t>
            </a:r>
            <a:endParaRPr lang="en-US" sz="2800" b="0" dirty="0">
              <a:solidFill>
                <a:srgbClr val="FF000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BE3908E-6492-4B80-8F38-F7E6DF3751B8}"/>
              </a:ext>
            </a:extLst>
          </p:cNvPr>
          <p:cNvSpPr txBox="1"/>
          <p:nvPr/>
        </p:nvSpPr>
        <p:spPr bwMode="auto">
          <a:xfrm rot="1054416">
            <a:off x="4663661" y="1918486"/>
            <a:ext cx="1021814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/>
              <a:t>Training</a:t>
            </a:r>
            <a:endParaRPr lang="en-US" sz="2800" b="0" dirty="0"/>
          </a:p>
        </p:txBody>
      </p:sp>
      <p:pic>
        <p:nvPicPr>
          <p:cNvPr id="7" name="Picture 6" descr="Images Augmentation for Deep Learning with Keras">
            <a:extLst>
              <a:ext uri="{FF2B5EF4-FFF2-40B4-BE49-F238E27FC236}">
                <a16:creationId xmlns:a16="http://schemas.microsoft.com/office/drawing/2014/main" id="{3452B979-9A83-4872-89DA-E22361EEC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741" y="4425827"/>
            <a:ext cx="2935760" cy="221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4D83A0-D243-4E06-B481-ED46CBFCF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356" y="4511872"/>
            <a:ext cx="2849240" cy="1888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75509530-941D-4372-B57B-3D5353AF5DEC}"/>
              </a:ext>
            </a:extLst>
          </p:cNvPr>
          <p:cNvSpPr txBox="1"/>
          <p:nvPr/>
        </p:nvSpPr>
        <p:spPr bwMode="auto">
          <a:xfrm>
            <a:off x="9720203" y="6385254"/>
            <a:ext cx="1295546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100" b="0" dirty="0">
                <a:solidFill>
                  <a:srgbClr val="C00000"/>
                </a:solidFill>
              </a:rPr>
              <a:t>Castro et al, 2018</a:t>
            </a:r>
          </a:p>
        </p:txBody>
      </p:sp>
    </p:spTree>
    <p:extLst>
      <p:ext uri="{BB962C8B-B14F-4D97-AF65-F5344CB8AC3E}">
        <p14:creationId xmlns:p14="http://schemas.microsoft.com/office/powerpoint/2010/main" val="101871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5EC20-4694-4950-B11B-1EF1E254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 training at validation minimum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 smaller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augmentation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features to network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Batch normalization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FB4C-CB85-4BDB-927D-F3E223C2E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Don’t: overfit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68E588-C58B-4E4A-A617-427B55F1A5AC}"/>
              </a:ext>
            </a:extLst>
          </p:cNvPr>
          <p:cNvGraphicFramePr>
            <a:graphicFrameLocks/>
          </p:cNvGraphicFramePr>
          <p:nvPr/>
        </p:nvGraphicFramePr>
        <p:xfrm>
          <a:off x="4210050" y="704422"/>
          <a:ext cx="3771900" cy="251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3">
            <a:extLst>
              <a:ext uri="{FF2B5EF4-FFF2-40B4-BE49-F238E27FC236}">
                <a16:creationId xmlns:a16="http://schemas.microsoft.com/office/drawing/2014/main" id="{67D2E482-B8E4-4967-9E08-3ED3A8B7B674}"/>
              </a:ext>
            </a:extLst>
          </p:cNvPr>
          <p:cNvSpPr txBox="1"/>
          <p:nvPr/>
        </p:nvSpPr>
        <p:spPr bwMode="auto">
          <a:xfrm>
            <a:off x="5264301" y="1311223"/>
            <a:ext cx="1190328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>
                <a:solidFill>
                  <a:srgbClr val="FF0000"/>
                </a:solidFill>
              </a:rPr>
              <a:t>Validation</a:t>
            </a:r>
            <a:endParaRPr lang="en-US" sz="2800" b="0" dirty="0">
              <a:solidFill>
                <a:srgbClr val="FF000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BE3908E-6492-4B80-8F38-F7E6DF3751B8}"/>
              </a:ext>
            </a:extLst>
          </p:cNvPr>
          <p:cNvSpPr txBox="1"/>
          <p:nvPr/>
        </p:nvSpPr>
        <p:spPr bwMode="auto">
          <a:xfrm rot="1054416">
            <a:off x="4663661" y="1918486"/>
            <a:ext cx="1021814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/>
              <a:t>Training</a:t>
            </a:r>
            <a:endParaRPr lang="en-US" sz="2800" b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695AF-D9EC-4D68-B361-AC9E9BF7E29C}"/>
              </a:ext>
            </a:extLst>
          </p:cNvPr>
          <p:cNvSpPr/>
          <p:nvPr/>
        </p:nvSpPr>
        <p:spPr>
          <a:xfrm>
            <a:off x="5159147" y="5323044"/>
            <a:ext cx="36140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Normalize the output of a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Improves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Prevents extreme activations</a:t>
            </a:r>
          </a:p>
        </p:txBody>
      </p:sp>
    </p:spTree>
    <p:extLst>
      <p:ext uri="{BB962C8B-B14F-4D97-AF65-F5344CB8AC3E}">
        <p14:creationId xmlns:p14="http://schemas.microsoft.com/office/powerpoint/2010/main" val="322115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5EC20-4694-4950-B11B-1EF1E254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 training at validation minimum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 smaller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augmentation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features to network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Batch normalization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Dropout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FB4C-CB85-4BDB-927D-F3E223C2E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Don’t: overfit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68E588-C58B-4E4A-A617-427B55F1A5AC}"/>
              </a:ext>
            </a:extLst>
          </p:cNvPr>
          <p:cNvGraphicFramePr>
            <a:graphicFrameLocks/>
          </p:cNvGraphicFramePr>
          <p:nvPr/>
        </p:nvGraphicFramePr>
        <p:xfrm>
          <a:off x="4210050" y="704422"/>
          <a:ext cx="3771900" cy="251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3">
            <a:extLst>
              <a:ext uri="{FF2B5EF4-FFF2-40B4-BE49-F238E27FC236}">
                <a16:creationId xmlns:a16="http://schemas.microsoft.com/office/drawing/2014/main" id="{67D2E482-B8E4-4967-9E08-3ED3A8B7B674}"/>
              </a:ext>
            </a:extLst>
          </p:cNvPr>
          <p:cNvSpPr txBox="1"/>
          <p:nvPr/>
        </p:nvSpPr>
        <p:spPr bwMode="auto">
          <a:xfrm>
            <a:off x="5264301" y="1311223"/>
            <a:ext cx="1190328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>
                <a:solidFill>
                  <a:srgbClr val="FF0000"/>
                </a:solidFill>
              </a:rPr>
              <a:t>Validation</a:t>
            </a:r>
            <a:endParaRPr lang="en-US" sz="2800" b="0" dirty="0">
              <a:solidFill>
                <a:srgbClr val="FF000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BE3908E-6492-4B80-8F38-F7E6DF3751B8}"/>
              </a:ext>
            </a:extLst>
          </p:cNvPr>
          <p:cNvSpPr txBox="1"/>
          <p:nvPr/>
        </p:nvSpPr>
        <p:spPr bwMode="auto">
          <a:xfrm rot="1054416">
            <a:off x="4663661" y="1918486"/>
            <a:ext cx="1021814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rtlCol="0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0" dirty="0"/>
              <a:t>Training</a:t>
            </a:r>
            <a:endParaRPr lang="en-US" sz="28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1DC76E-8B42-447F-8092-95E5838CE86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619" y="3907340"/>
            <a:ext cx="4347895" cy="253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154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CA31C7-D0D9-4133-8651-0FC950E05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608948"/>
            <a:ext cx="11277600" cy="1037915"/>
          </a:xfrm>
        </p:spPr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https://github.com/nerox8664/awesome-computer-vision-models</a:t>
            </a:r>
            <a:endParaRPr lang="en-US" sz="1800" dirty="0"/>
          </a:p>
          <a:p>
            <a:r>
              <a:rPr lang="en-US" sz="1800" dirty="0">
                <a:hlinkClick r:id="rId3"/>
              </a:rPr>
              <a:t>https://github.com/qubvel/segmentation_models</a:t>
            </a:r>
            <a:r>
              <a:rPr lang="en-US" sz="1800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0DF4-107E-42E9-8C0D-ADD9A67CFD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5. Do: explore </a:t>
            </a:r>
            <a:r>
              <a:rPr lang="en-US" dirty="0" err="1"/>
              <a:t>github</a:t>
            </a:r>
            <a:r>
              <a:rPr lang="en-US" dirty="0"/>
              <a:t> for existing networks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076B529-81ED-454B-896C-F7AC91A08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617" y="1008668"/>
            <a:ext cx="6476349" cy="392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588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2A2A67-6210-45D0-B88E-F34642D4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Resources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Webinar </a:t>
            </a:r>
            <a:r>
              <a:rPr lang="en-US" dirty="0" err="1">
                <a:solidFill>
                  <a:schemeClr val="tx1"/>
                </a:solidFill>
              </a:rPr>
              <a:t>github</a:t>
            </a:r>
            <a:r>
              <a:rPr lang="en-US" dirty="0">
                <a:solidFill>
                  <a:schemeClr val="tx1"/>
                </a:solidFill>
              </a:rPr>
              <a:t> page:</a:t>
            </a:r>
            <a:br>
              <a:rPr lang="en-US" dirty="0">
                <a:solidFill>
                  <a:srgbClr val="0563C1"/>
                </a:solidFill>
              </a:rPr>
            </a:br>
            <a:r>
              <a:rPr lang="en-US" sz="1800" dirty="0">
                <a:solidFill>
                  <a:srgbClr val="0563C1"/>
                </a:solidFill>
              </a:rPr>
              <a:t>https://github.com/bradshawuw/snmmi_hands_on_training_for_ai</a:t>
            </a:r>
            <a:endParaRPr lang="en-US" sz="1800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UW Boot Camp </a:t>
            </a:r>
            <a:r>
              <a:rPr lang="en-US" dirty="0" err="1">
                <a:solidFill>
                  <a:schemeClr val="tx1"/>
                </a:solidFill>
              </a:rPr>
              <a:t>github</a:t>
            </a:r>
            <a:r>
              <a:rPr lang="en-US" dirty="0">
                <a:solidFill>
                  <a:schemeClr val="tx1"/>
                </a:solidFill>
              </a:rPr>
              <a:t> page:</a:t>
            </a:r>
            <a:br>
              <a:rPr lang="en-US" dirty="0"/>
            </a:br>
            <a:r>
              <a:rPr lang="en-US" sz="1800" dirty="0">
                <a:hlinkClick r:id="rId2"/>
              </a:rPr>
              <a:t>https://github.com/kmjohnson3/ML4MI_BootCamp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Access to data sets via TCIA</a:t>
            </a:r>
            <a:br>
              <a:rPr lang="en-US" dirty="0"/>
            </a:br>
            <a:r>
              <a:rPr lang="en-US" sz="1800" dirty="0">
                <a:hlinkClick r:id="rId3"/>
              </a:rPr>
              <a:t>https://www.cancerimagingarchive.net/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A0EA8-A907-4713-AD18-13ED02458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257605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>
        <a:spAutoFit/>
      </a:bodyPr>
      <a:lstStyle>
        <a:defPPr marL="228600" indent="-228600" algn="ctr" fontAlgn="auto">
          <a:lnSpc>
            <a:spcPct val="90000"/>
          </a:lnSpc>
          <a:spcBef>
            <a:spcPts val="1000"/>
          </a:spcBef>
          <a:spcAft>
            <a:spcPts val="0"/>
          </a:spcAft>
          <a:buFont typeface="Arial" panose="020B0604020202020204" pitchFamily="34" charset="0"/>
          <a:buChar char="•"/>
          <a:defRPr sz="2800" dirty="0">
            <a:solidFill>
              <a:prstClr val="black"/>
            </a:solidFill>
            <a:latin typeface="Calibri" panose="020F0502020204030204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 bwMode="auto">
        <a:noFill/>
        <a:ln w="19050">
          <a:noFill/>
          <a:miter lim="800000"/>
          <a:headEnd/>
          <a:tailEnd/>
        </a:ln>
        <a:effectLst/>
      </a:spPr>
      <a:bodyPr wrap="square" anchorCtr="1">
        <a:spAutoFit/>
      </a:bodyPr>
      <a:lstStyle>
        <a:defPPr algn="ctr">
          <a:lnSpc>
            <a:spcPct val="100000"/>
          </a:lnSpc>
          <a:spcBef>
            <a:spcPct val="50000"/>
          </a:spcBef>
          <a:buFontTx/>
          <a:buNone/>
          <a:defRPr sz="2800" b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4_Project Overview">
  <a:themeElements>
    <a:clrScheme name="Project Overview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Project Overvie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oject Overview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ject Overview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Overview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rgbClr val="CC0000"/>
          </a:solidFill>
          <a:headEnd type="none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>
              <a:lumMod val="75000"/>
              <a:lumOff val="25000"/>
            </a:schemeClr>
          </a:solidFill>
          <a:headEnd type="none"/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b="1" dirty="0" smtClean="0">
            <a:solidFill>
              <a:schemeClr val="tx1">
                <a:lumMod val="65000"/>
                <a:lumOff val="35000"/>
              </a:schemeClr>
            </a:solidFill>
            <a:latin typeface="Calibri"/>
            <a:cs typeface="Calibri"/>
          </a:defRPr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169789</TotalTime>
  <Words>390</Words>
  <Application>Microsoft Office PowerPoint</Application>
  <PresentationFormat>Widescreen</PresentationFormat>
  <Paragraphs>114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Calibri Light</vt:lpstr>
      <vt:lpstr>Impact</vt:lpstr>
      <vt:lpstr>Stencil</vt:lpstr>
      <vt:lpstr>Times</vt:lpstr>
      <vt:lpstr>Times New Roman</vt:lpstr>
      <vt:lpstr>Wingdings</vt:lpstr>
      <vt:lpstr>1_Office Theme</vt:lpstr>
      <vt:lpstr>54_Project Overview</vt:lpstr>
      <vt:lpstr>Standarddesign</vt:lpstr>
      <vt:lpstr>SNMMI Hands-on Training for AI:   Do’s and Dont’s of Deep Learning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Declaration of Conflict of Interest or Relationship</dc:title>
  <dc:creator>Kevin M Johnson</dc:creator>
  <cp:lastModifiedBy>Bradshaw</cp:lastModifiedBy>
  <cp:revision>4562</cp:revision>
  <dcterms:created xsi:type="dcterms:W3CDTF">2010-04-21T20:03:43Z</dcterms:created>
  <dcterms:modified xsi:type="dcterms:W3CDTF">2020-04-07T18:22:41Z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